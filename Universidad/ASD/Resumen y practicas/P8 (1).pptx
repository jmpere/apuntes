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7" r:id="rId7"/>
    <p:sldId id="258" r:id="rId8"/>
    <p:sldId id="259" r:id="rId9"/>
    <p:sldId id="260" r:id="rId10"/>
    <p:sldId id="270" r:id="rId11"/>
    <p:sldId id="265" r:id="rId12"/>
    <p:sldId id="261" r:id="rId13"/>
    <p:sldId id="262" r:id="rId14"/>
    <p:sldId id="263" r:id="rId15"/>
    <p:sldId id="26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6DB4"/>
    <a:srgbClr val="262626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C7409-E53E-4BD8-84E1-4C99E9675296}" v="39" dt="2020-05-17T20:03:02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esktop\Libro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ownloads\pere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esktop\Libro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ownloads\pere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ownloads\Libro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esktop\Libro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l&#233;n%20Dguez\Desktop\Universidad\ASD\pereParte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esktop\Libro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l&#233;n%20Dguez\Desktop\Universidad\ASD\pereParte3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ueba\Desktop\Libro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el&#233;n%20Dguez\Desktop\Universidad\ASD\pereParte3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800" b="0" i="0" baseline="0" dirty="0">
                <a:effectLst/>
              </a:rPr>
              <a:t>Tiempo respecto a procesos</a:t>
            </a:r>
            <a:endParaRPr lang="es-E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Hoja1!$N$2:$Y$2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Hoja1!$N$3:$Y$3</c:f>
              <c:numCache>
                <c:formatCode>General</c:formatCode>
                <c:ptCount val="12"/>
                <c:pt idx="0">
                  <c:v>0.65962600000000005</c:v>
                </c:pt>
                <c:pt idx="1">
                  <c:v>0.32473099999999999</c:v>
                </c:pt>
                <c:pt idx="2">
                  <c:v>0.34188000000000002</c:v>
                </c:pt>
                <c:pt idx="3">
                  <c:v>0.32996999999999999</c:v>
                </c:pt>
                <c:pt idx="4">
                  <c:v>0.40747100000000003</c:v>
                </c:pt>
                <c:pt idx="5">
                  <c:v>0.36570200000000003</c:v>
                </c:pt>
                <c:pt idx="6">
                  <c:v>0.380137</c:v>
                </c:pt>
                <c:pt idx="7">
                  <c:v>0.32988499999999998</c:v>
                </c:pt>
                <c:pt idx="8">
                  <c:v>0.35763299999999998</c:v>
                </c:pt>
                <c:pt idx="9">
                  <c:v>0.32406699999999999</c:v>
                </c:pt>
                <c:pt idx="10">
                  <c:v>0.35631000000000002</c:v>
                </c:pt>
                <c:pt idx="11">
                  <c:v>0.37952599999999997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3E-444F-92C0-95469DF845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8897584"/>
        <c:axId val="1520810688"/>
      </c:lineChart>
      <c:catAx>
        <c:axId val="160889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20810688"/>
        <c:crosses val="autoZero"/>
        <c:auto val="1"/>
        <c:lblAlgn val="ctr"/>
        <c:lblOffset val="100"/>
        <c:noMultiLvlLbl val="0"/>
      </c:catAx>
      <c:valAx>
        <c:axId val="152081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0889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Tiempo respecto a procesos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Hoja1!$N$2:$Y$2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Hoja1!$N$3:$Y$3</c:f>
              <c:numCache>
                <c:formatCode>General</c:formatCode>
                <c:ptCount val="12"/>
                <c:pt idx="0">
                  <c:v>0.37593300000000002</c:v>
                </c:pt>
                <c:pt idx="1">
                  <c:v>0.19045999999999999</c:v>
                </c:pt>
                <c:pt idx="2">
                  <c:v>0.18384400000000001</c:v>
                </c:pt>
                <c:pt idx="3">
                  <c:v>0.18135699999999999</c:v>
                </c:pt>
                <c:pt idx="4">
                  <c:v>0.198071</c:v>
                </c:pt>
                <c:pt idx="5">
                  <c:v>0.18868299999999999</c:v>
                </c:pt>
                <c:pt idx="6">
                  <c:v>0.19057499999999999</c:v>
                </c:pt>
                <c:pt idx="7">
                  <c:v>0.197158</c:v>
                </c:pt>
                <c:pt idx="8">
                  <c:v>0.19927300000000001</c:v>
                </c:pt>
                <c:pt idx="9">
                  <c:v>0.20163800000000001</c:v>
                </c:pt>
                <c:pt idx="10">
                  <c:v>0.209624</c:v>
                </c:pt>
                <c:pt idx="11">
                  <c:v>0.21076700000000001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8B-45BD-BED5-2EB3FD95FE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1446576"/>
        <c:axId val="1567465984"/>
      </c:lineChart>
      <c:catAx>
        <c:axId val="168144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67465984"/>
        <c:crosses val="autoZero"/>
        <c:auto val="1"/>
        <c:lblAlgn val="ctr"/>
        <c:lblOffset val="100"/>
        <c:noMultiLvlLbl val="0"/>
      </c:catAx>
      <c:valAx>
        <c:axId val="156746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8144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Aceleración respecto np=1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Hoja1!$N$2:$Y$2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Hoja1!$M$7:$X$7</c:f>
              <c:numCache>
                <c:formatCode>General</c:formatCode>
                <c:ptCount val="12"/>
                <c:pt idx="0">
                  <c:v>0</c:v>
                </c:pt>
                <c:pt idx="1">
                  <c:v>2.0312997527184042</c:v>
                </c:pt>
                <c:pt idx="2">
                  <c:v>1.9294079794079795</c:v>
                </c:pt>
                <c:pt idx="3">
                  <c:v>1.9990483983392431</c:v>
                </c:pt>
                <c:pt idx="4">
                  <c:v>1.6188293154604867</c:v>
                </c:pt>
                <c:pt idx="5">
                  <c:v>1.8037254376514211</c:v>
                </c:pt>
                <c:pt idx="6">
                  <c:v>1.7352322978294668</c:v>
                </c:pt>
                <c:pt idx="7">
                  <c:v>1.9995634842445096</c:v>
                </c:pt>
                <c:pt idx="8">
                  <c:v>1.8444215159115631</c:v>
                </c:pt>
                <c:pt idx="9">
                  <c:v>2.0354618026519211</c:v>
                </c:pt>
                <c:pt idx="10">
                  <c:v>1.8512699615503354</c:v>
                </c:pt>
                <c:pt idx="11">
                  <c:v>1.7380258533012234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F0D-452E-874E-68451D7F3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8897584"/>
        <c:axId val="1520810688"/>
      </c:lineChart>
      <c:catAx>
        <c:axId val="1608897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20810688"/>
        <c:crosses val="autoZero"/>
        <c:auto val="1"/>
        <c:lblAlgn val="ctr"/>
        <c:lblOffset val="100"/>
        <c:noMultiLvlLbl val="0"/>
      </c:catAx>
      <c:valAx>
        <c:axId val="1520810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0889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Aceleracion respecto np=1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Hoja1!$N$4:$Y$4</c:f>
              <c:numCache>
                <c:formatCode>General</c:formatCode>
                <c:ptCount val="12"/>
                <c:pt idx="0">
                  <c:v>1</c:v>
                </c:pt>
                <c:pt idx="1">
                  <c:v>1.973816024362071</c:v>
                </c:pt>
                <c:pt idx="2">
                  <c:v>2.0448478057483519</c:v>
                </c:pt>
                <c:pt idx="3">
                  <c:v>2.0728893839223193</c:v>
                </c:pt>
                <c:pt idx="4">
                  <c:v>1.8979709296161478</c:v>
                </c:pt>
                <c:pt idx="5">
                  <c:v>1.9924052511355026</c:v>
                </c:pt>
                <c:pt idx="6">
                  <c:v>1.972624950806769</c:v>
                </c:pt>
                <c:pt idx="7">
                  <c:v>1.9067600604591242</c:v>
                </c:pt>
                <c:pt idx="8">
                  <c:v>1.8865225093213833</c:v>
                </c:pt>
                <c:pt idx="9">
                  <c:v>1.8643956000357076</c:v>
                </c:pt>
                <c:pt idx="10">
                  <c:v>1.7933681257871237</c:v>
                </c:pt>
                <c:pt idx="11">
                  <c:v>1.7836426005968675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53-47A7-9483-58879986D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775407"/>
        <c:axId val="376166351"/>
      </c:lineChart>
      <c:catAx>
        <c:axId val="23277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6166351"/>
        <c:crosses val="autoZero"/>
        <c:auto val="1"/>
        <c:lblAlgn val="ctr"/>
        <c:lblOffset val="100"/>
        <c:noMultiLvlLbl val="0"/>
      </c:catAx>
      <c:valAx>
        <c:axId val="37616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3277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Tiempo respecto a procesos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3511472"/>
        <c:axId val="990134576"/>
      </c:lineChart>
      <c:catAx>
        <c:axId val="1043511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990134576"/>
        <c:crosses val="autoZero"/>
        <c:auto val="1"/>
        <c:lblAlgn val="ctr"/>
        <c:lblOffset val="100"/>
        <c:noMultiLvlLbl val="0"/>
      </c:catAx>
      <c:valAx>
        <c:axId val="990134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04351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Tiempo respecto a procesos</a:t>
            </a:r>
          </a:p>
        </c:rich>
      </c:tx>
      <c:layout>
        <c:manualLayout>
          <c:xMode val="edge"/>
          <c:yMode val="edge"/>
          <c:x val="0.13237235297421782"/>
          <c:y val="3.59174007556377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Hoja1!$J$35:$U$35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Hoja1!$J$36:$U$36</c:f>
              <c:numCache>
                <c:formatCode>General</c:formatCode>
                <c:ptCount val="12"/>
                <c:pt idx="0">
                  <c:v>0.670427</c:v>
                </c:pt>
                <c:pt idx="1">
                  <c:v>0.33831699999999998</c:v>
                </c:pt>
                <c:pt idx="2">
                  <c:v>0.234153</c:v>
                </c:pt>
                <c:pt idx="3">
                  <c:v>0.231151</c:v>
                </c:pt>
                <c:pt idx="4">
                  <c:v>0.21618200000000001</c:v>
                </c:pt>
                <c:pt idx="5">
                  <c:v>0.20027600000000001</c:v>
                </c:pt>
                <c:pt idx="6">
                  <c:v>0.235239</c:v>
                </c:pt>
                <c:pt idx="7">
                  <c:v>0.19908200000000001</c:v>
                </c:pt>
                <c:pt idx="8">
                  <c:v>0.262548</c:v>
                </c:pt>
                <c:pt idx="9">
                  <c:v>0.21546000000000001</c:v>
                </c:pt>
                <c:pt idx="10">
                  <c:v>0.21046699999999999</c:v>
                </c:pt>
                <c:pt idx="11">
                  <c:v>0.24106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83-4BFF-9D44-7894132C6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4911391"/>
        <c:axId val="1584968255"/>
      </c:lineChart>
      <c:catAx>
        <c:axId val="15849113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84968255"/>
        <c:crosses val="autoZero"/>
        <c:auto val="1"/>
        <c:lblAlgn val="ctr"/>
        <c:lblOffset val="100"/>
        <c:noMultiLvlLbl val="0"/>
      </c:catAx>
      <c:valAx>
        <c:axId val="15849682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849113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Tiempo respecto a procesos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Hoja1!$N$2:$Y$2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Hoja1!$N$3:$Y$3</c:f>
              <c:numCache>
                <c:formatCode>General</c:formatCode>
                <c:ptCount val="12"/>
                <c:pt idx="0">
                  <c:v>0.39813500000000002</c:v>
                </c:pt>
                <c:pt idx="1">
                  <c:v>0.215195</c:v>
                </c:pt>
                <c:pt idx="2">
                  <c:v>0.15781000000000001</c:v>
                </c:pt>
                <c:pt idx="3">
                  <c:v>0.13252900000000001</c:v>
                </c:pt>
                <c:pt idx="4">
                  <c:v>0.13983300000000001</c:v>
                </c:pt>
                <c:pt idx="5">
                  <c:v>0.14224899999999999</c:v>
                </c:pt>
                <c:pt idx="6">
                  <c:v>0.122567</c:v>
                </c:pt>
                <c:pt idx="7">
                  <c:v>0.13348599999999999</c:v>
                </c:pt>
                <c:pt idx="8">
                  <c:v>0.115802</c:v>
                </c:pt>
                <c:pt idx="9">
                  <c:v>0.122138</c:v>
                </c:pt>
                <c:pt idx="10">
                  <c:v>0.123963</c:v>
                </c:pt>
                <c:pt idx="11">
                  <c:v>0.13739699999999999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62C-44A5-87D8-161E18BC3D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81446576"/>
        <c:axId val="1567465984"/>
      </c:lineChart>
      <c:catAx>
        <c:axId val="168144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67465984"/>
        <c:crosses val="autoZero"/>
        <c:auto val="1"/>
        <c:lblAlgn val="ctr"/>
        <c:lblOffset val="100"/>
        <c:noMultiLvlLbl val="0"/>
      </c:catAx>
      <c:valAx>
        <c:axId val="156746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81446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Aceleracion respecto np=1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Hoja1!$J$37:$U$37</c:f>
              <c:numCache>
                <c:formatCode>General</c:formatCode>
                <c:ptCount val="12"/>
                <c:pt idx="0">
                  <c:v>1</c:v>
                </c:pt>
                <c:pt idx="1">
                  <c:v>1.9816533014894315</c:v>
                </c:pt>
                <c:pt idx="2">
                  <c:v>2.8632005569008299</c:v>
                </c:pt>
                <c:pt idx="3">
                  <c:v>2.9003854623168404</c:v>
                </c:pt>
                <c:pt idx="4">
                  <c:v>3.1012156423754056</c:v>
                </c:pt>
                <c:pt idx="5">
                  <c:v>3.3475154287083821</c:v>
                </c:pt>
                <c:pt idx="6">
                  <c:v>2.8499823583674475</c:v>
                </c:pt>
                <c:pt idx="7">
                  <c:v>3.367592248420249</c:v>
                </c:pt>
                <c:pt idx="8">
                  <c:v>2.5535406858936271</c:v>
                </c:pt>
                <c:pt idx="9">
                  <c:v>3.1116077230112316</c:v>
                </c:pt>
                <c:pt idx="10">
                  <c:v>3.1854257437032887</c:v>
                </c:pt>
                <c:pt idx="11">
                  <c:v>2.78116236621588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C0-4B21-977D-B7A8867CCC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0733407"/>
        <c:axId val="1589219103"/>
      </c:lineChart>
      <c:catAx>
        <c:axId val="1590733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89219103"/>
        <c:crosses val="autoZero"/>
        <c:auto val="1"/>
        <c:lblAlgn val="ctr"/>
        <c:lblOffset val="100"/>
        <c:noMultiLvlLbl val="0"/>
      </c:catAx>
      <c:valAx>
        <c:axId val="158921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90733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Aceleracion respecto np=1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Hoja1!$N$4:$Y$4</c:f>
              <c:numCache>
                <c:formatCode>General</c:formatCode>
                <c:ptCount val="12"/>
                <c:pt idx="0">
                  <c:v>1</c:v>
                </c:pt>
                <c:pt idx="1">
                  <c:v>1.8501126884918331</c:v>
                </c:pt>
                <c:pt idx="2">
                  <c:v>2.5228756099106522</c:v>
                </c:pt>
                <c:pt idx="3">
                  <c:v>3.0041349440499814</c:v>
                </c:pt>
                <c:pt idx="4">
                  <c:v>2.8472177526048927</c:v>
                </c:pt>
                <c:pt idx="5">
                  <c:v>2.7988597459384605</c:v>
                </c:pt>
                <c:pt idx="6">
                  <c:v>3.2483050086891252</c:v>
                </c:pt>
                <c:pt idx="7">
                  <c:v>2.9825974259472905</c:v>
                </c:pt>
                <c:pt idx="8">
                  <c:v>3.4380667000569938</c:v>
                </c:pt>
                <c:pt idx="9">
                  <c:v>3.259714421392196</c:v>
                </c:pt>
                <c:pt idx="10">
                  <c:v>3.2117244661713578</c:v>
                </c:pt>
                <c:pt idx="11">
                  <c:v>2.8976979118903619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3B-40F2-B4D0-217ACEC1D5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775407"/>
        <c:axId val="376166351"/>
      </c:lineChart>
      <c:catAx>
        <c:axId val="2327754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76166351"/>
        <c:crosses val="autoZero"/>
        <c:auto val="1"/>
        <c:lblAlgn val="ctr"/>
        <c:lblOffset val="100"/>
        <c:noMultiLvlLbl val="0"/>
      </c:catAx>
      <c:valAx>
        <c:axId val="376166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3277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800" b="0" i="0" baseline="0" dirty="0">
                <a:effectLst/>
              </a:rPr>
              <a:t>Comparación de tiempos</a:t>
            </a:r>
            <a:endParaRPr lang="es-ES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Parte 2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Hoja1!$N$3:$Y$3</c:f>
              <c:numCache>
                <c:formatCode>General</c:formatCode>
                <c:ptCount val="12"/>
                <c:pt idx="0">
                  <c:v>0.65962600000000005</c:v>
                </c:pt>
                <c:pt idx="1">
                  <c:v>0.32473099999999999</c:v>
                </c:pt>
                <c:pt idx="2">
                  <c:v>0.34188000000000002</c:v>
                </c:pt>
                <c:pt idx="3">
                  <c:v>0.32996999999999999</c:v>
                </c:pt>
                <c:pt idx="4">
                  <c:v>0.40747100000000003</c:v>
                </c:pt>
                <c:pt idx="5">
                  <c:v>0.36570200000000003</c:v>
                </c:pt>
                <c:pt idx="6">
                  <c:v>0.380137</c:v>
                </c:pt>
                <c:pt idx="7">
                  <c:v>0.32988499999999998</c:v>
                </c:pt>
                <c:pt idx="8">
                  <c:v>0.35763299999999998</c:v>
                </c:pt>
                <c:pt idx="9">
                  <c:v>0.32406699999999999</c:v>
                </c:pt>
                <c:pt idx="10">
                  <c:v>0.35631000000000002</c:v>
                </c:pt>
                <c:pt idx="11">
                  <c:v>0.37952599999999997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AF-48E9-B931-F4B0C9BEAE7D}"/>
            </c:ext>
          </c:extLst>
        </c:ser>
        <c:ser>
          <c:idx val="1"/>
          <c:order val="1"/>
          <c:tx>
            <c:v>Parte 3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Hoja1!$N$4:$Y$4</c:f>
              <c:numCache>
                <c:formatCode>General</c:formatCode>
                <c:ptCount val="12"/>
                <c:pt idx="0">
                  <c:v>0.670427</c:v>
                </c:pt>
                <c:pt idx="1">
                  <c:v>0.33831699999999998</c:v>
                </c:pt>
                <c:pt idx="2">
                  <c:v>0.234153</c:v>
                </c:pt>
                <c:pt idx="3">
                  <c:v>0.231151</c:v>
                </c:pt>
                <c:pt idx="4">
                  <c:v>0.21618200000000001</c:v>
                </c:pt>
                <c:pt idx="5">
                  <c:v>0.20027600000000001</c:v>
                </c:pt>
                <c:pt idx="6">
                  <c:v>0.235239</c:v>
                </c:pt>
                <c:pt idx="7">
                  <c:v>0.19908200000000001</c:v>
                </c:pt>
                <c:pt idx="8">
                  <c:v>0.262548</c:v>
                </c:pt>
                <c:pt idx="9">
                  <c:v>0.21546000000000001</c:v>
                </c:pt>
                <c:pt idx="10">
                  <c:v>0.21046699999999999</c:v>
                </c:pt>
                <c:pt idx="11">
                  <c:v>0.24106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AF-48E9-B931-F4B0C9BEA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0229343"/>
        <c:axId val="1344210207"/>
      </c:lineChart>
      <c:catAx>
        <c:axId val="1440229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344210207"/>
        <c:crosses val="autoZero"/>
        <c:auto val="1"/>
        <c:lblAlgn val="ctr"/>
        <c:lblOffset val="100"/>
        <c:noMultiLvlLbl val="0"/>
      </c:catAx>
      <c:valAx>
        <c:axId val="1344210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440229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/>
              <a:t>Comparacion de tiempos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Parte 2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Hoja1!$L$25:$W$25</c:f>
              <c:numCache>
                <c:formatCode>General</c:formatCode>
                <c:ptCount val="12"/>
                <c:pt idx="0">
                  <c:v>0.37593300000000002</c:v>
                </c:pt>
                <c:pt idx="1">
                  <c:v>0.19045999999999999</c:v>
                </c:pt>
                <c:pt idx="2">
                  <c:v>0.18384400000000001</c:v>
                </c:pt>
                <c:pt idx="3">
                  <c:v>0.18135699999999999</c:v>
                </c:pt>
                <c:pt idx="4">
                  <c:v>0.198071</c:v>
                </c:pt>
                <c:pt idx="5">
                  <c:v>0.18868299999999999</c:v>
                </c:pt>
                <c:pt idx="6">
                  <c:v>0.19057499999999999</c:v>
                </c:pt>
                <c:pt idx="7">
                  <c:v>0.197158</c:v>
                </c:pt>
                <c:pt idx="8">
                  <c:v>0.19927300000000001</c:v>
                </c:pt>
                <c:pt idx="9">
                  <c:v>0.20163800000000001</c:v>
                </c:pt>
                <c:pt idx="10">
                  <c:v>0.209624</c:v>
                </c:pt>
                <c:pt idx="11">
                  <c:v>0.21076700000000001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72-4779-ACAF-20D09B653A86}"/>
            </c:ext>
          </c:extLst>
        </c:ser>
        <c:ser>
          <c:idx val="1"/>
          <c:order val="1"/>
          <c:tx>
            <c:v>Parte 3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Hoja1!$L$26:$W$26</c:f>
              <c:numCache>
                <c:formatCode>General</c:formatCode>
                <c:ptCount val="12"/>
                <c:pt idx="0">
                  <c:v>0.39813500000000002</c:v>
                </c:pt>
                <c:pt idx="1">
                  <c:v>0.215195</c:v>
                </c:pt>
                <c:pt idx="2">
                  <c:v>0.15781000000000001</c:v>
                </c:pt>
                <c:pt idx="3">
                  <c:v>0.13252900000000001</c:v>
                </c:pt>
                <c:pt idx="4">
                  <c:v>0.13983300000000001</c:v>
                </c:pt>
                <c:pt idx="5">
                  <c:v>0.14224899999999999</c:v>
                </c:pt>
                <c:pt idx="6">
                  <c:v>0.122567</c:v>
                </c:pt>
                <c:pt idx="7">
                  <c:v>0.13348599999999999</c:v>
                </c:pt>
                <c:pt idx="8">
                  <c:v>0.115802</c:v>
                </c:pt>
                <c:pt idx="9">
                  <c:v>0.122138</c:v>
                </c:pt>
                <c:pt idx="10">
                  <c:v>0.123963</c:v>
                </c:pt>
                <c:pt idx="11">
                  <c:v>0.13739699999999999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72-4779-ACAF-20D09B653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0685903"/>
        <c:axId val="1607527231"/>
      </c:lineChart>
      <c:catAx>
        <c:axId val="15906859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07527231"/>
        <c:crosses val="autoZero"/>
        <c:auto val="1"/>
        <c:lblAlgn val="ctr"/>
        <c:lblOffset val="100"/>
        <c:noMultiLvlLbl val="0"/>
      </c:catAx>
      <c:valAx>
        <c:axId val="1607527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906859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9FF631-0D81-471F-82B5-BA898E3CCFCF}" type="datetimeFigureOut">
              <a:rPr lang="es-ES" smtClean="0"/>
              <a:t>20/05/2020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7CC4B-D33E-4643-9421-409D2AB666E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407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F30B-1A38-4423-BDB9-BB35BC7839AF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8AEE4-9A56-49C9-AB10-082A37F7ECA5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86969-C42F-4450-8A91-43E6A18952F1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A247F-4405-49F4-B7B3-14D8C57D4879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B1ACF-1937-4451-9E9C-F67A77BBC775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3CE7-A7C7-4587-A6A3-D14E35175FAD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31683-F1D0-4024-9786-28F83BBB547F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E077-7A73-4C1F-9E33-54BDC5D287BE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6FEF7FE6-A697-4F2C-9653-FC0167DFBF6B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48FA1-D082-4E31-A327-EF8ED1EB0473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15166-0066-4EC6-AF82-6ABE9D62873E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B4BDB-5B17-4947-AB6D-D91865BDEE14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7CB4-7BF4-45FF-83A1-C6E79D77DEE1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2ED7A-6251-47B2-AAFF-5D6B12A0612D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295B3C52-8EB6-45C0-BE2C-3B80CF91159C}" type="datetime1">
              <a:rPr lang="en-US" smtClean="0"/>
              <a:t>5/20/2020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FC916-40D0-4BBA-9D20-FE2083CDBC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MPI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7A9855-0CE7-49FB-8877-B5974D7B4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302498"/>
            <a:ext cx="7652355" cy="1036826"/>
          </a:xfrm>
        </p:spPr>
        <p:txBody>
          <a:bodyPr>
            <a:normAutofit/>
          </a:bodyPr>
          <a:lstStyle/>
          <a:p>
            <a:r>
              <a:rPr lang="es-ES" dirty="0"/>
              <a:t>Belén Domínguez Domínguez </a:t>
            </a:r>
          </a:p>
          <a:p>
            <a:r>
              <a:rPr lang="es-ES" dirty="0"/>
              <a:t>José Manuel Pérez Álvarez</a:t>
            </a:r>
          </a:p>
        </p:txBody>
      </p:sp>
      <p:pic>
        <p:nvPicPr>
          <p:cNvPr id="2052" name="Picture 4" descr="Tarjeta De Circuitos Tecnología Electrónica Del Hardware ...">
            <a:extLst>
              <a:ext uri="{FF2B5EF4-FFF2-40B4-BE49-F238E27FC236}">
                <a16:creationId xmlns:a16="http://schemas.microsoft.com/office/drawing/2014/main" id="{8277D5AE-18FD-43D0-BAC0-DA18CC963E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4" b="24339"/>
          <a:stretch/>
        </p:blipFill>
        <p:spPr bwMode="auto">
          <a:xfrm>
            <a:off x="0" y="0"/>
            <a:ext cx="12199771" cy="4914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EF824AEF-568C-450C-8167-E180DFB92BB8}"/>
              </a:ext>
            </a:extLst>
          </p:cNvPr>
          <p:cNvSpPr/>
          <p:nvPr/>
        </p:nvSpPr>
        <p:spPr>
          <a:xfrm rot="10800000">
            <a:off x="1717002" y="4914525"/>
            <a:ext cx="1350394" cy="399018"/>
          </a:xfrm>
          <a:prstGeom prst="triangle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35FED9B-D34A-41D3-B52F-62CDE6E08F39}"/>
              </a:ext>
            </a:extLst>
          </p:cNvPr>
          <p:cNvSpPr txBox="1">
            <a:spLocks/>
          </p:cNvSpPr>
          <p:nvPr/>
        </p:nvSpPr>
        <p:spPr>
          <a:xfrm>
            <a:off x="9011349" y="5172223"/>
            <a:ext cx="3188422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MPI</a:t>
            </a:r>
          </a:p>
        </p:txBody>
      </p:sp>
    </p:spTree>
    <p:extLst>
      <p:ext uri="{BB962C8B-B14F-4D97-AF65-F5344CB8AC3E}">
        <p14:creationId xmlns:p14="http://schemas.microsoft.com/office/powerpoint/2010/main" val="175281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6">
            <a:extLst>
              <a:ext uri="{FF2B5EF4-FFF2-40B4-BE49-F238E27FC236}">
                <a16:creationId xmlns:a16="http://schemas.microsoft.com/office/drawing/2014/main" id="{91CF38AD-64FF-4090-AFB9-CD5E95EF5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a14="http://schemas.microsoft.com/office/drawing/2010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Rounded Rectangle 16">
            <a:extLst>
              <a:ext uri="{FF2B5EF4-FFF2-40B4-BE49-F238E27FC236}">
                <a16:creationId xmlns:a16="http://schemas.microsoft.com/office/drawing/2014/main" id="{25D8FF91-E288-440D-8157-447C89804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458" y="643464"/>
            <a:ext cx="5365605" cy="3599352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ounded Rectangle 18">
            <a:extLst>
              <a:ext uri="{FF2B5EF4-FFF2-40B4-BE49-F238E27FC236}">
                <a16:creationId xmlns:a16="http://schemas.microsoft.com/office/drawing/2014/main" id="{BDFD85CC-2798-453A-A5F2-849A59855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0932" y="643464"/>
            <a:ext cx="5365605" cy="3599352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B254FB8-8225-4218-96A9-970729B5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78" name="Freeform 9">
              <a:extLst>
                <a:ext uri="{FF2B5EF4-FFF2-40B4-BE49-F238E27FC236}">
                  <a16:creationId xmlns:a16="http://schemas.microsoft.com/office/drawing/2014/main" id="{3E89FEA3-F6D5-45EE-889F-D11BC4BEB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19E2CD6E-5C90-4DA2-880B-EC1DC9C14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A3DCB2FA-F03D-4AEA-AB50-2070F3BFC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B789-E56A-46BD-B5A2-9BD7868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5211801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Introducción</a:t>
            </a:r>
            <a:endParaRPr lang="en-US" dirty="0"/>
          </a:p>
        </p:txBody>
      </p:sp>
      <p:pic>
        <p:nvPicPr>
          <p:cNvPr id="1026" name="Picture 2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24BF0DB7-DC13-47F6-A613-34CB6D14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2082" y="967414"/>
            <a:ext cx="5044213" cy="248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629A5577-3FDD-4F13-836E-9A3EACC29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53" y="1244846"/>
            <a:ext cx="5044213" cy="1929410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8B72BE39-87CB-4169-B7BC-E6D3C4BF2FF3}"/>
              </a:ext>
            </a:extLst>
          </p:cNvPr>
          <p:cNvSpPr txBox="1">
            <a:spLocks/>
          </p:cNvSpPr>
          <p:nvPr/>
        </p:nvSpPr>
        <p:spPr>
          <a:xfrm>
            <a:off x="883543" y="3553532"/>
            <a:ext cx="4869432" cy="41649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Belén Domínguez Domínguez</a:t>
            </a:r>
          </a:p>
        </p:txBody>
      </p:sp>
      <p:sp>
        <p:nvSpPr>
          <p:cNvPr id="20" name="Subtítulo 2">
            <a:extLst>
              <a:ext uri="{FF2B5EF4-FFF2-40B4-BE49-F238E27FC236}">
                <a16:creationId xmlns:a16="http://schemas.microsoft.com/office/drawing/2014/main" id="{C0EEE9FB-AE21-4348-8812-3BF42D25D248}"/>
              </a:ext>
            </a:extLst>
          </p:cNvPr>
          <p:cNvSpPr txBox="1">
            <a:spLocks/>
          </p:cNvSpPr>
          <p:nvPr/>
        </p:nvSpPr>
        <p:spPr>
          <a:xfrm>
            <a:off x="6429018" y="3553532"/>
            <a:ext cx="4869432" cy="41649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s-ES" sz="1600" u="sng" dirty="0">
                <a:solidFill>
                  <a:schemeClr val="bg1">
                    <a:lumMod val="85000"/>
                    <a:lumOff val="15000"/>
                  </a:schemeClr>
                </a:solidFill>
              </a:rPr>
              <a:t>José Manuel Pérez Álvarez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509CED-2C04-4270-A7DE-1AA865D2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5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B789-E56A-46BD-B5A2-9BD7868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>
            <a:normAutofit/>
          </a:bodyPr>
          <a:lstStyle/>
          <a:p>
            <a:r>
              <a:rPr lang="es-ES" dirty="0"/>
              <a:t>Parte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026BE-C9B3-4E64-A454-E2E36DFBE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3" y="2413000"/>
            <a:ext cx="5277287" cy="3632200"/>
          </a:xfrm>
        </p:spPr>
        <p:txBody>
          <a:bodyPr>
            <a:normAutofit/>
          </a:bodyPr>
          <a:lstStyle/>
          <a:p>
            <a:r>
              <a:rPr lang="es-ES" dirty="0"/>
              <a:t>Función a integrar: 𝑦 = √(1 − 𝑥</a:t>
            </a:r>
            <a:r>
              <a:rPr lang="es-ES" baseline="30000" dirty="0"/>
              <a:t>2</a:t>
            </a:r>
            <a:r>
              <a:rPr lang="es-ES" dirty="0"/>
              <a:t>)</a:t>
            </a:r>
          </a:p>
          <a:p>
            <a:r>
              <a:rPr lang="es-ES" dirty="0"/>
              <a:t>Debemos dividir la función en trapecios de la misma longitud (tantos como indiquemos)</a:t>
            </a:r>
          </a:p>
          <a:p>
            <a:r>
              <a:rPr lang="es-ES" dirty="0"/>
              <a:t>Cada proceso se encargará de un número de trapecios, y enviará su cálculo al proceso maestro mediante los comando MPI_SEND y MPI_RECV.</a:t>
            </a:r>
          </a:p>
          <a:p>
            <a:r>
              <a:rPr lang="es-ES" dirty="0"/>
              <a:t>El proceso 0 sumará los resultados y mostrará la aproximación de </a:t>
            </a:r>
            <a:r>
              <a:rPr lang="el-GR" dirty="0"/>
              <a:t>π</a:t>
            </a:r>
            <a:r>
              <a:rPr lang="es-ES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0B756E-6DE9-432D-8809-05623A2D9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842" y="2738213"/>
            <a:ext cx="5734180" cy="2981773"/>
          </a:xfrm>
          <a:prstGeom prst="roundRect">
            <a:avLst>
              <a:gd name="adj" fmla="val 14173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D732F4-D598-4322-854D-8F05C93A6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ED6FB8-4B0A-420E-80D9-840453035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27" y="2663901"/>
            <a:ext cx="6223773" cy="3093154"/>
          </a:xfrm>
          <a:solidFill>
            <a:schemeClr val="tx1"/>
          </a:solidFill>
          <a:ln w="38100">
            <a:solidFill>
              <a:srgbClr val="8C6DB4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s-ES" sz="1500" dirty="0">
              <a:solidFill>
                <a:sysClr val="windowText" lastClr="000000"/>
              </a:solidFill>
            </a:endParaRP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//Para iniciar MPI</a:t>
            </a:r>
          </a:p>
          <a:p>
            <a:pPr marL="0" indent="0">
              <a:buNone/>
            </a:pPr>
            <a:r>
              <a:rPr lang="it-IT" sz="1500" dirty="0">
                <a:solidFill>
                  <a:sysClr val="windowText" lastClr="000000"/>
                </a:solidFill>
              </a:rPr>
              <a:t>    int   mi_rango</a:t>
            </a:r>
            <a:r>
              <a:rPr lang="it-IT" sz="1500" b="1" dirty="0">
                <a:solidFill>
                  <a:sysClr val="windowText" lastClr="000000"/>
                </a:solidFill>
              </a:rPr>
              <a:t>;</a:t>
            </a:r>
            <a:r>
              <a:rPr lang="it-IT" sz="1500" dirty="0">
                <a:solidFill>
                  <a:sysClr val="windowText" lastClr="000000"/>
                </a:solidFill>
              </a:rPr>
              <a:t>            // rango de mi proceso</a:t>
            </a: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    int  p</a:t>
            </a:r>
            <a:r>
              <a:rPr lang="es-ES" sz="1500" b="1" dirty="0">
                <a:solidFill>
                  <a:sysClr val="windowText" lastClr="000000"/>
                </a:solidFill>
              </a:rPr>
              <a:t>;</a:t>
            </a:r>
            <a:r>
              <a:rPr lang="es-ES" sz="1500" dirty="0">
                <a:solidFill>
                  <a:sysClr val="windowText" lastClr="000000"/>
                </a:solidFill>
              </a:rPr>
              <a:t>                    // numero de procesos</a:t>
            </a: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    int  fuente</a:t>
            </a:r>
            <a:r>
              <a:rPr lang="es-ES" sz="1500" b="1" dirty="0">
                <a:solidFill>
                  <a:sysClr val="windowText" lastClr="000000"/>
                </a:solidFill>
              </a:rPr>
              <a:t>;</a:t>
            </a:r>
            <a:r>
              <a:rPr lang="es-ES" sz="1500" dirty="0">
                <a:solidFill>
                  <a:sysClr val="windowText" lastClr="000000"/>
                </a:solidFill>
              </a:rPr>
              <a:t>                // rango del emisor</a:t>
            </a:r>
          </a:p>
          <a:p>
            <a:pPr marL="0" indent="0">
              <a:buNone/>
            </a:pPr>
            <a:r>
              <a:rPr lang="it-IT" sz="1500" dirty="0">
                <a:solidFill>
                  <a:sysClr val="windowText" lastClr="000000"/>
                </a:solidFill>
              </a:rPr>
              <a:t>    int   dest</a:t>
            </a:r>
            <a:r>
              <a:rPr lang="it-IT" sz="1500" b="1" dirty="0">
                <a:solidFill>
                  <a:sysClr val="windowText" lastClr="000000"/>
                </a:solidFill>
              </a:rPr>
              <a:t>;</a:t>
            </a:r>
            <a:r>
              <a:rPr lang="it-IT" sz="1500" dirty="0">
                <a:solidFill>
                  <a:sysClr val="windowText" lastClr="000000"/>
                </a:solidFill>
              </a:rPr>
              <a:t>                // rango del destinatario</a:t>
            </a: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    int    etiqueta </a:t>
            </a:r>
            <a:r>
              <a:rPr lang="es-ES" sz="1500" b="1" dirty="0">
                <a:solidFill>
                  <a:sysClr val="windowText" lastClr="000000"/>
                </a:solidFill>
              </a:rPr>
              <a:t>=</a:t>
            </a:r>
            <a:r>
              <a:rPr lang="es-ES" sz="1500" dirty="0">
                <a:solidFill>
                  <a:sysClr val="windowText" lastClr="000000"/>
                </a:solidFill>
              </a:rPr>
              <a:t> 0</a:t>
            </a:r>
            <a:r>
              <a:rPr lang="es-ES" sz="1500" b="1" dirty="0">
                <a:solidFill>
                  <a:sysClr val="windowText" lastClr="000000"/>
                </a:solidFill>
              </a:rPr>
              <a:t>;</a:t>
            </a:r>
            <a:r>
              <a:rPr lang="es-ES" sz="1500" dirty="0">
                <a:solidFill>
                  <a:sysClr val="windowText" lastClr="000000"/>
                </a:solidFill>
              </a:rPr>
              <a:t>        // etiqueta para los mensajes</a:t>
            </a: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    char   mensaje</a:t>
            </a:r>
            <a:r>
              <a:rPr lang="es-ES" sz="1500" b="1" dirty="0">
                <a:solidFill>
                  <a:sysClr val="windowText" lastClr="000000"/>
                </a:solidFill>
              </a:rPr>
              <a:t>[</a:t>
            </a:r>
            <a:r>
              <a:rPr lang="es-ES" sz="1500" dirty="0">
                <a:solidFill>
                  <a:sysClr val="windowText" lastClr="000000"/>
                </a:solidFill>
              </a:rPr>
              <a:t>100</a:t>
            </a:r>
            <a:r>
              <a:rPr lang="es-ES" sz="1500" b="1" dirty="0">
                <a:solidFill>
                  <a:sysClr val="windowText" lastClr="000000"/>
                </a:solidFill>
              </a:rPr>
              <a:t>];</a:t>
            </a:r>
            <a:r>
              <a:rPr lang="es-ES" sz="1500" dirty="0">
                <a:solidFill>
                  <a:sysClr val="windowText" lastClr="000000"/>
                </a:solidFill>
              </a:rPr>
              <a:t>        // almacenamiento para el mensaje</a:t>
            </a:r>
          </a:p>
          <a:p>
            <a:pPr marL="0" indent="0">
              <a:buNone/>
            </a:pPr>
            <a:r>
              <a:rPr lang="es-ES" sz="1500" dirty="0">
                <a:solidFill>
                  <a:sysClr val="windowText" lastClr="000000"/>
                </a:solidFill>
              </a:rPr>
              <a:t>    MPI_Status  status</a:t>
            </a:r>
            <a:r>
              <a:rPr lang="es-ES" sz="1500" b="1" dirty="0">
                <a:solidFill>
                  <a:sysClr val="windowText" lastClr="000000"/>
                </a:solidFill>
              </a:rPr>
              <a:t>;</a:t>
            </a:r>
            <a:r>
              <a:rPr lang="es-ES" sz="1500" dirty="0">
                <a:solidFill>
                  <a:sysClr val="windowText" lastClr="000000"/>
                </a:solidFill>
              </a:rPr>
              <a:t>            // devuelve el status para el receptor</a:t>
            </a:r>
          </a:p>
          <a:p>
            <a:pPr marL="0" indent="0">
              <a:buNone/>
            </a:pPr>
            <a:endParaRPr lang="es-ES" dirty="0">
              <a:solidFill>
                <a:sysClr val="windowText" lastClr="000000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950EFD-0D5B-4A7A-9557-E4736E6669EA}"/>
              </a:ext>
            </a:extLst>
          </p:cNvPr>
          <p:cNvSpPr txBox="1"/>
          <p:nvPr/>
        </p:nvSpPr>
        <p:spPr>
          <a:xfrm>
            <a:off x="6400800" y="2663901"/>
            <a:ext cx="5325979" cy="3093154"/>
          </a:xfrm>
          <a:prstGeom prst="rect">
            <a:avLst/>
          </a:prstGeom>
          <a:solidFill>
            <a:schemeClr val="tx1"/>
          </a:solidFill>
          <a:ln w="38100">
            <a:solidFill>
              <a:srgbClr val="8C6DB4"/>
            </a:solidFill>
          </a:ln>
        </p:spPr>
        <p:txBody>
          <a:bodyPr wrap="square" rtlCol="0">
            <a:spAutoFit/>
          </a:bodyPr>
          <a:lstStyle/>
          <a:p>
            <a:r>
              <a:rPr lang="es-ES" sz="1500" dirty="0">
                <a:solidFill>
                  <a:schemeClr val="bg1"/>
                </a:solidFill>
              </a:rPr>
              <a:t> //Para la integración de trapecios por procesos</a:t>
            </a:r>
          </a:p>
          <a:p>
            <a:endParaRPr lang="es-ES" sz="1500" dirty="0">
              <a:solidFill>
                <a:schemeClr val="bg1"/>
              </a:solidFill>
            </a:endParaRPr>
          </a:p>
          <a:p>
            <a:r>
              <a:rPr lang="es-ES" sz="1500" dirty="0">
                <a:solidFill>
                  <a:schemeClr val="bg1"/>
                </a:solidFill>
              </a:rPr>
              <a:t>float integral</a:t>
            </a:r>
            <a:r>
              <a:rPr lang="es-ES" sz="1500" b="1" dirty="0">
                <a:solidFill>
                  <a:schemeClr val="bg1"/>
                </a:solidFill>
              </a:rPr>
              <a:t>;</a:t>
            </a:r>
            <a:r>
              <a:rPr lang="es-ES" sz="1500" dirty="0">
                <a:solidFill>
                  <a:schemeClr val="bg1"/>
                </a:solidFill>
              </a:rPr>
              <a:t> // RESULTADO DE LA INTEGRAL</a:t>
            </a:r>
          </a:p>
          <a:p>
            <a:r>
              <a:rPr lang="es-ES" sz="1500" dirty="0">
                <a:solidFill>
                  <a:schemeClr val="bg1"/>
                </a:solidFill>
              </a:rPr>
              <a:t>float a </a:t>
            </a:r>
            <a:r>
              <a:rPr lang="es-ES" sz="1500" b="1" dirty="0">
                <a:solidFill>
                  <a:schemeClr val="bg1"/>
                </a:solidFill>
              </a:rPr>
              <a:t>=</a:t>
            </a:r>
            <a:r>
              <a:rPr lang="es-ES" sz="1500" dirty="0">
                <a:solidFill>
                  <a:schemeClr val="bg1"/>
                </a:solidFill>
              </a:rPr>
              <a:t> </a:t>
            </a:r>
            <a:r>
              <a:rPr lang="es-ES" sz="1500" b="1" dirty="0">
                <a:solidFill>
                  <a:schemeClr val="bg1"/>
                </a:solidFill>
              </a:rPr>
              <a:t>-</a:t>
            </a:r>
            <a:r>
              <a:rPr lang="es-ES" sz="1500" dirty="0">
                <a:solidFill>
                  <a:schemeClr val="bg1"/>
                </a:solidFill>
              </a:rPr>
              <a:t>1.0</a:t>
            </a:r>
            <a:r>
              <a:rPr lang="es-ES" sz="1500" b="1" dirty="0">
                <a:solidFill>
                  <a:schemeClr val="bg1"/>
                </a:solidFill>
              </a:rPr>
              <a:t>;</a:t>
            </a:r>
            <a:r>
              <a:rPr lang="es-ES" sz="1500" dirty="0">
                <a:solidFill>
                  <a:schemeClr val="bg1"/>
                </a:solidFill>
              </a:rPr>
              <a:t> // EXTREMO IZQUIERDO</a:t>
            </a:r>
          </a:p>
          <a:p>
            <a:r>
              <a:rPr lang="es-ES" sz="1500" dirty="0">
                <a:solidFill>
                  <a:schemeClr val="bg1"/>
                </a:solidFill>
              </a:rPr>
              <a:t>float b </a:t>
            </a:r>
            <a:r>
              <a:rPr lang="es-ES" sz="1500" b="1" dirty="0">
                <a:solidFill>
                  <a:schemeClr val="bg1"/>
                </a:solidFill>
              </a:rPr>
              <a:t>=</a:t>
            </a:r>
            <a:r>
              <a:rPr lang="es-ES" sz="1500" dirty="0">
                <a:solidFill>
                  <a:schemeClr val="bg1"/>
                </a:solidFill>
              </a:rPr>
              <a:t> 1.0</a:t>
            </a:r>
            <a:r>
              <a:rPr lang="es-ES" sz="1500" b="1" dirty="0">
                <a:solidFill>
                  <a:schemeClr val="bg1"/>
                </a:solidFill>
              </a:rPr>
              <a:t>;</a:t>
            </a:r>
            <a:r>
              <a:rPr lang="es-ES" sz="1500" dirty="0">
                <a:solidFill>
                  <a:schemeClr val="bg1"/>
                </a:solidFill>
              </a:rPr>
              <a:t> // EXTREMO DERECHO</a:t>
            </a:r>
          </a:p>
          <a:p>
            <a:r>
              <a:rPr lang="pt-BR" sz="1500" dirty="0">
                <a:solidFill>
                  <a:schemeClr val="bg1"/>
                </a:solidFill>
              </a:rPr>
              <a:t>int n </a:t>
            </a:r>
            <a:r>
              <a:rPr lang="pt-BR" sz="1500" b="1" dirty="0">
                <a:solidFill>
                  <a:schemeClr val="bg1"/>
                </a:solidFill>
              </a:rPr>
              <a:t>=</a:t>
            </a:r>
            <a:r>
              <a:rPr lang="pt-BR" sz="1500" dirty="0">
                <a:solidFill>
                  <a:schemeClr val="bg1"/>
                </a:solidFill>
              </a:rPr>
              <a:t> 12</a:t>
            </a:r>
            <a:r>
              <a:rPr lang="pt-BR" sz="1500" b="1" dirty="0">
                <a:solidFill>
                  <a:schemeClr val="bg1"/>
                </a:solidFill>
              </a:rPr>
              <a:t>;</a:t>
            </a:r>
            <a:r>
              <a:rPr lang="pt-BR" sz="1500" dirty="0">
                <a:solidFill>
                  <a:schemeClr val="bg1"/>
                </a:solidFill>
              </a:rPr>
              <a:t> // NUMERO DE TRAPECIOS</a:t>
            </a:r>
          </a:p>
          <a:p>
            <a:r>
              <a:rPr lang="es-ES" sz="1500" dirty="0">
                <a:solidFill>
                  <a:schemeClr val="bg1"/>
                </a:solidFill>
              </a:rPr>
              <a:t>float h</a:t>
            </a:r>
            <a:r>
              <a:rPr lang="es-ES" sz="1500" b="1" dirty="0">
                <a:solidFill>
                  <a:schemeClr val="bg1"/>
                </a:solidFill>
              </a:rPr>
              <a:t>;</a:t>
            </a:r>
            <a:r>
              <a:rPr lang="es-ES" sz="1500" dirty="0">
                <a:solidFill>
                  <a:schemeClr val="bg1"/>
                </a:solidFill>
              </a:rPr>
              <a:t> // LONGITUD DE LA BASE DEL TRAPECIO</a:t>
            </a:r>
          </a:p>
          <a:p>
            <a:endParaRPr lang="es-ES" sz="1500" dirty="0">
              <a:solidFill>
                <a:schemeClr val="bg1"/>
              </a:solidFill>
            </a:endParaRPr>
          </a:p>
          <a:p>
            <a:r>
              <a:rPr lang="es-ES" sz="1500" dirty="0">
                <a:solidFill>
                  <a:schemeClr val="bg1"/>
                </a:solidFill>
              </a:rPr>
              <a:t>float f</a:t>
            </a:r>
            <a:r>
              <a:rPr lang="es-ES" sz="1500" b="1" dirty="0">
                <a:solidFill>
                  <a:schemeClr val="bg1"/>
                </a:solidFill>
              </a:rPr>
              <a:t>(</a:t>
            </a:r>
            <a:r>
              <a:rPr lang="es-ES" sz="1500" dirty="0">
                <a:solidFill>
                  <a:schemeClr val="bg1"/>
                </a:solidFill>
              </a:rPr>
              <a:t>float x</a:t>
            </a:r>
            <a:r>
              <a:rPr lang="es-ES" sz="1500" b="1" dirty="0">
                <a:solidFill>
                  <a:schemeClr val="bg1"/>
                </a:solidFill>
              </a:rPr>
              <a:t>);</a:t>
            </a:r>
            <a:r>
              <a:rPr lang="es-ES" sz="1500" dirty="0">
                <a:solidFill>
                  <a:schemeClr val="bg1"/>
                </a:solidFill>
              </a:rPr>
              <a:t>  /* FUNCION*/</a:t>
            </a:r>
          </a:p>
          <a:p>
            <a:r>
              <a:rPr lang="pt-BR" sz="1500" dirty="0">
                <a:solidFill>
                  <a:schemeClr val="bg1"/>
                </a:solidFill>
              </a:rPr>
              <a:t>float integralFuncion</a:t>
            </a:r>
            <a:r>
              <a:rPr lang="pt-BR" sz="1500" b="1" dirty="0">
                <a:solidFill>
                  <a:schemeClr val="bg1"/>
                </a:solidFill>
              </a:rPr>
              <a:t>(</a:t>
            </a:r>
            <a:r>
              <a:rPr lang="pt-BR" sz="1500" dirty="0">
                <a:solidFill>
                  <a:schemeClr val="bg1"/>
                </a:solidFill>
              </a:rPr>
              <a:t>float h</a:t>
            </a:r>
            <a:r>
              <a:rPr lang="pt-BR" sz="1500" b="1" dirty="0">
                <a:solidFill>
                  <a:schemeClr val="bg1"/>
                </a:solidFill>
              </a:rPr>
              <a:t>,</a:t>
            </a:r>
            <a:r>
              <a:rPr lang="pt-BR" sz="1500" dirty="0">
                <a:solidFill>
                  <a:schemeClr val="bg1"/>
                </a:solidFill>
              </a:rPr>
              <a:t> int n</a:t>
            </a:r>
            <a:r>
              <a:rPr lang="pt-BR" sz="1500" b="1" dirty="0">
                <a:solidFill>
                  <a:schemeClr val="bg1"/>
                </a:solidFill>
              </a:rPr>
              <a:t>,</a:t>
            </a:r>
            <a:r>
              <a:rPr lang="pt-BR" sz="1500" dirty="0">
                <a:solidFill>
                  <a:schemeClr val="bg1"/>
                </a:solidFill>
              </a:rPr>
              <a:t> float a</a:t>
            </a:r>
            <a:r>
              <a:rPr lang="pt-BR" sz="1500" b="1" dirty="0">
                <a:solidFill>
                  <a:schemeClr val="bg1"/>
                </a:solidFill>
              </a:rPr>
              <a:t>,</a:t>
            </a:r>
            <a:r>
              <a:rPr lang="pt-BR" sz="1500" dirty="0">
                <a:solidFill>
                  <a:schemeClr val="bg1"/>
                </a:solidFill>
              </a:rPr>
              <a:t> float b</a:t>
            </a:r>
            <a:r>
              <a:rPr lang="pt-BR" sz="1500" b="1" dirty="0">
                <a:solidFill>
                  <a:schemeClr val="bg1"/>
                </a:solidFill>
              </a:rPr>
              <a:t>);</a:t>
            </a:r>
            <a:r>
              <a:rPr lang="pt-BR" sz="1500" dirty="0">
                <a:solidFill>
                  <a:schemeClr val="bg1"/>
                </a:solidFill>
              </a:rPr>
              <a:t> </a:t>
            </a:r>
          </a:p>
          <a:p>
            <a:r>
              <a:rPr lang="pt-BR" sz="1500" dirty="0">
                <a:solidFill>
                  <a:schemeClr val="bg1"/>
                </a:solidFill>
              </a:rPr>
              <a:t>/* CALCULO INTEGRAL */</a:t>
            </a:r>
          </a:p>
          <a:p>
            <a:endParaRPr lang="es-ES" sz="1500" dirty="0">
              <a:solidFill>
                <a:schemeClr val="bg1"/>
              </a:solidFill>
            </a:endParaRPr>
          </a:p>
          <a:p>
            <a:r>
              <a:rPr lang="es-ES" sz="1500" dirty="0">
                <a:solidFill>
                  <a:schemeClr val="bg1"/>
                </a:solidFill>
              </a:rPr>
              <a:t>float acum</a:t>
            </a:r>
            <a:r>
              <a:rPr lang="es-ES" sz="1500" b="1" dirty="0">
                <a:solidFill>
                  <a:schemeClr val="bg1"/>
                </a:solidFill>
              </a:rPr>
              <a:t>;</a:t>
            </a:r>
            <a:r>
              <a:rPr lang="es-ES" sz="1500" dirty="0">
                <a:solidFill>
                  <a:schemeClr val="bg1"/>
                </a:solidFill>
              </a:rPr>
              <a:t> //acumulador de los procesos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29AFEF-2A3C-498B-9E6B-36B25A89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906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6">
            <a:extLst>
              <a:ext uri="{FF2B5EF4-FFF2-40B4-BE49-F238E27FC236}">
                <a16:creationId xmlns:a16="http://schemas.microsoft.com/office/drawing/2014/main" id="{CE09E21C-A325-4A05-ABC0-CAF1D7B52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:p14="http://schemas.microsoft.com/office/powerpoint/2010/main" xmlns:a16="http://schemas.microsoft.com/office/drawing/2014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697E777-8077-48ED-861D-919762A4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 23">
            <a:extLst>
              <a:ext uri="{FF2B5EF4-FFF2-40B4-BE49-F238E27FC236}">
                <a16:creationId xmlns:a16="http://schemas.microsoft.com/office/drawing/2014/main" id="{48AF6BEF-7139-416D-8C2F-4AD91DA47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22529B-43AD-4809-BA77-730CB30CB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7369" y="2271684"/>
            <a:ext cx="3882263" cy="3632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1500" dirty="0"/>
              <a:t>Tenemos dos funciones:</a:t>
            </a:r>
          </a:p>
          <a:p>
            <a:pPr algn="just">
              <a:buFont typeface="Wingdings 2" charset="2"/>
              <a:buChar char=""/>
            </a:pPr>
            <a:r>
              <a:rPr lang="en-US" sz="1500" dirty="0"/>
              <a:t> </a:t>
            </a:r>
            <a:r>
              <a:rPr lang="en-US" sz="1500" b="1" u="sng" dirty="0"/>
              <a:t>f:</a:t>
            </a:r>
            <a:r>
              <a:rPr lang="en-US" sz="1500" dirty="0"/>
              <a:t> calcula la función que hay que integrar.</a:t>
            </a:r>
          </a:p>
          <a:p>
            <a:pPr algn="just"/>
            <a:endParaRPr lang="en-US" sz="1500" dirty="0"/>
          </a:p>
          <a:p>
            <a:pPr algn="just">
              <a:buFont typeface="Wingdings 2" charset="2"/>
              <a:buChar char=""/>
            </a:pPr>
            <a:r>
              <a:rPr lang="en-US" sz="1500" b="1" dirty="0"/>
              <a:t> </a:t>
            </a:r>
            <a:r>
              <a:rPr lang="en-US" sz="1500" b="1" u="sng" dirty="0"/>
              <a:t>integralFuncion:</a:t>
            </a:r>
            <a:r>
              <a:rPr lang="en-US" sz="1500" b="1" dirty="0"/>
              <a:t> </a:t>
            </a:r>
            <a:r>
              <a:rPr lang="en-US" sz="1500" dirty="0"/>
              <a:t>funciona como la función dada en el boletín, asignando a cada uno de los procesos el número de trapecios que le </a:t>
            </a:r>
            <a:r>
              <a:rPr lang="en-US" sz="1500" noProof="1"/>
              <a:t>corresponde</a:t>
            </a:r>
            <a:r>
              <a:rPr lang="en-US" sz="1500" dirty="0"/>
              <a:t> y calculando la integral de estos.</a:t>
            </a:r>
          </a:p>
        </p:txBody>
      </p:sp>
      <p:sp>
        <p:nvSpPr>
          <p:cNvPr id="68" name="Rounded Rectangle 17">
            <a:extLst>
              <a:ext uri="{FF2B5EF4-FFF2-40B4-BE49-F238E27FC236}">
                <a16:creationId xmlns:a16="http://schemas.microsoft.com/office/drawing/2014/main" id="{03BFF6BD-7732-42A2-AEA2-7E4BC4FF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282BB81C-EC52-4A11-B789-AD52105EEF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9" t="-2" r="6075" b="5"/>
          <a:stretch/>
        </p:blipFill>
        <p:spPr>
          <a:xfrm>
            <a:off x="5506941" y="1552906"/>
            <a:ext cx="5812072" cy="375218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3E50531-6E10-4F26-9F92-A7B3183FF82E}"/>
              </a:ext>
            </a:extLst>
          </p:cNvPr>
          <p:cNvSpPr txBox="1"/>
          <p:nvPr/>
        </p:nvSpPr>
        <p:spPr>
          <a:xfrm>
            <a:off x="-1" y="0"/>
            <a:ext cx="4637005" cy="1596044"/>
          </a:xfrm>
          <a:prstGeom prst="rect">
            <a:avLst/>
          </a:prstGeom>
          <a:gradFill flip="none" rotWithShape="1">
            <a:gsLst>
              <a:gs pos="0">
                <a:srgbClr val="8C6DB4">
                  <a:shade val="30000"/>
                  <a:satMod val="115000"/>
                </a:srgbClr>
              </a:gs>
              <a:gs pos="50000">
                <a:srgbClr val="8C6DB4">
                  <a:shade val="67500"/>
                  <a:satMod val="115000"/>
                </a:srgbClr>
              </a:gs>
              <a:gs pos="100000">
                <a:srgbClr val="8C6DB4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20" name="Título 3">
            <a:extLst>
              <a:ext uri="{FF2B5EF4-FFF2-40B4-BE49-F238E27FC236}">
                <a16:creationId xmlns:a16="http://schemas.microsoft.com/office/drawing/2014/main" id="{566284D0-42F0-466C-8FC7-7E5402A1D7EA}"/>
              </a:ext>
            </a:extLst>
          </p:cNvPr>
          <p:cNvSpPr txBox="1">
            <a:spLocks/>
          </p:cNvSpPr>
          <p:nvPr/>
        </p:nvSpPr>
        <p:spPr>
          <a:xfrm>
            <a:off x="667402" y="447188"/>
            <a:ext cx="3413084" cy="932433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4000" b="1" dirty="0"/>
              <a:t>Parte 1</a:t>
            </a:r>
            <a:endParaRPr lang="en-US" sz="4000" b="1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63FBE56-DA3F-465D-8141-A1EC37D2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7935" y="6148552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43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6">
            <a:extLst>
              <a:ext uri="{FF2B5EF4-FFF2-40B4-BE49-F238E27FC236}">
                <a16:creationId xmlns:a16="http://schemas.microsoft.com/office/drawing/2014/main" id="{90A7E396-A5E4-44BC-9BB6-B0E9D90C8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ECC733-A533-4D91-BD25-3B6E06B7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Freeform 23">
            <a:extLst>
              <a:ext uri="{FF2B5EF4-FFF2-40B4-BE49-F238E27FC236}">
                <a16:creationId xmlns:a16="http://schemas.microsoft.com/office/drawing/2014/main" id="{36401F08-8B30-49FC-A47E-7119FCAAB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E50531-6E10-4F26-9F92-A7B3183FF82E}"/>
              </a:ext>
            </a:extLst>
          </p:cNvPr>
          <p:cNvSpPr txBox="1"/>
          <p:nvPr/>
        </p:nvSpPr>
        <p:spPr>
          <a:xfrm>
            <a:off x="-1" y="0"/>
            <a:ext cx="4637005" cy="1596044"/>
          </a:xfrm>
          <a:prstGeom prst="rect">
            <a:avLst/>
          </a:prstGeom>
          <a:gradFill flip="none" rotWithShape="1">
            <a:gsLst>
              <a:gs pos="0">
                <a:srgbClr val="8C6DB4">
                  <a:shade val="30000"/>
                  <a:satMod val="115000"/>
                </a:srgbClr>
              </a:gs>
              <a:gs pos="50000">
                <a:srgbClr val="8C6DB4">
                  <a:shade val="67500"/>
                  <a:satMod val="115000"/>
                </a:srgbClr>
              </a:gs>
              <a:gs pos="100000">
                <a:srgbClr val="8C6DB4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5C8EB0A-BBBB-419B-8AFB-87998868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402" y="447188"/>
            <a:ext cx="3413084" cy="9324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4000" b="1" dirty="0"/>
              <a:t>Parte 1</a:t>
            </a:r>
            <a:endParaRPr lang="en-US" sz="4000" b="1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22529B-43AD-4809-BA77-730CB30CB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833" y="2043232"/>
            <a:ext cx="3404372" cy="43675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600" noProof="1"/>
              <a:t>Tras</a:t>
            </a:r>
            <a:r>
              <a:rPr lang="en-US" sz="1600" dirty="0"/>
              <a:t> iniciar MPI, calculamos la base de los trapecios para su futuro uso en la función de la integral e inicializamos el acumulador a 0.</a:t>
            </a:r>
          </a:p>
          <a:p>
            <a:endParaRPr lang="es-ES" sz="1600" noProof="1"/>
          </a:p>
          <a:p>
            <a:r>
              <a:rPr lang="en-US" sz="1600" dirty="0"/>
              <a:t>Llamamos a la función para calculary la integral.</a:t>
            </a:r>
          </a:p>
          <a:p>
            <a:endParaRPr lang="en-US" sz="1600" dirty="0"/>
          </a:p>
          <a:p>
            <a:r>
              <a:rPr lang="en-US" sz="1600" dirty="0"/>
              <a:t>Si temenos un proceso esclavo, enviará su resultado al proceso 0 y este los juntará todos en el acumulador.</a:t>
            </a:r>
          </a:p>
          <a:p>
            <a:endParaRPr lang="es-ES" sz="1600" dirty="0"/>
          </a:p>
        </p:txBody>
      </p:sp>
      <p:sp>
        <p:nvSpPr>
          <p:cNvPr id="57" name="Rounded Rectangle 17">
            <a:extLst>
              <a:ext uri="{FF2B5EF4-FFF2-40B4-BE49-F238E27FC236}">
                <a16:creationId xmlns:a16="http://schemas.microsoft.com/office/drawing/2014/main" id="{3F6460BF-80B6-42E6-A4B2-8F9671BAA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0F8EAE-98C6-48D1-8972-9AD33ED756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78" r="10245"/>
          <a:stretch/>
        </p:blipFill>
        <p:spPr>
          <a:xfrm>
            <a:off x="6113478" y="1011889"/>
            <a:ext cx="4600522" cy="4816099"/>
          </a:xfrm>
          <a:prstGeom prst="rect">
            <a:avLst/>
          </a:prstGeom>
        </p:spPr>
      </p:pic>
      <p:pic>
        <p:nvPicPr>
          <p:cNvPr id="10" name="Marcador de contenido 6">
            <a:extLst>
              <a:ext uri="{FF2B5EF4-FFF2-40B4-BE49-F238E27FC236}">
                <a16:creationId xmlns:a16="http://schemas.microsoft.com/office/drawing/2014/main" id="{33559F9F-08A5-4C6E-9ADE-2FE0B21AC4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3160" t="22053" r="27815" b="2225"/>
          <a:stretch/>
        </p:blipFill>
        <p:spPr>
          <a:xfrm>
            <a:off x="4821202" y="2794942"/>
            <a:ext cx="7185075" cy="1249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038374-F475-46F1-A706-4F935696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120" y="6135642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5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F034919-E5CA-4447-9788-D64150D326DC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ln w="2476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8AD318-249C-46EB-823C-7A463FD2A930}"/>
              </a:ext>
            </a:extLst>
          </p:cNvPr>
          <p:cNvSpPr/>
          <p:nvPr/>
        </p:nvSpPr>
        <p:spPr>
          <a:xfrm>
            <a:off x="675610" y="366758"/>
            <a:ext cx="10840780" cy="10002738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s-ES" sz="800" dirty="0">
                <a:solidFill>
                  <a:srgbClr val="008000"/>
                </a:solidFill>
              </a:rPr>
              <a:t>/*integracion_trapecios_no_paralelo.c</a:t>
            </a:r>
          </a:p>
          <a:p>
            <a:r>
              <a:rPr lang="es-ES" sz="800" dirty="0">
                <a:solidFill>
                  <a:srgbClr val="008000"/>
                </a:solidFill>
              </a:rPr>
              <a:t>* INTEGRACION NUMERICA POR EL METODO DE LOS TRAPECIOS</a:t>
            </a:r>
          </a:p>
          <a:p>
            <a:r>
              <a:rPr lang="es-ES" sz="800" dirty="0">
                <a:solidFill>
                  <a:srgbClr val="008000"/>
                </a:solidFill>
              </a:rPr>
              <a:t>* ENTRADA: NINGUNA.</a:t>
            </a:r>
          </a:p>
          <a:p>
            <a:r>
              <a:rPr lang="es-ES" sz="800" dirty="0">
                <a:solidFill>
                  <a:srgbClr val="008000"/>
                </a:solidFill>
              </a:rPr>
              <a:t>* SALIDA : ESTIMACION DE LA INTEGRAL DESDE a HASTA b DE f(x)</a:t>
            </a:r>
          </a:p>
          <a:p>
            <a:r>
              <a:rPr lang="es-ES" sz="800" dirty="0">
                <a:solidFill>
                  <a:srgbClr val="008000"/>
                </a:solidFill>
              </a:rPr>
              <a:t>* USANDO EL METODO DE LOS TRAPECIOS CON n</a:t>
            </a:r>
          </a:p>
          <a:p>
            <a:r>
              <a:rPr lang="es-ES" sz="800" dirty="0">
                <a:solidFill>
                  <a:srgbClr val="008000"/>
                </a:solidFill>
              </a:rPr>
              <a:t>TRAPECIOS */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804000"/>
                </a:solidFill>
              </a:rPr>
              <a:t>#include &lt;stdio.h&gt;</a:t>
            </a:r>
          </a:p>
          <a:p>
            <a:r>
              <a:rPr lang="es-ES" sz="800" dirty="0">
                <a:solidFill>
                  <a:srgbClr val="804000"/>
                </a:solidFill>
              </a:rPr>
              <a:t>#include &lt;math.h&gt;</a:t>
            </a:r>
          </a:p>
          <a:p>
            <a:r>
              <a:rPr lang="es-ES" sz="800" dirty="0">
                <a:solidFill>
                  <a:srgbClr val="804000"/>
                </a:solidFill>
              </a:rPr>
              <a:t>#include &lt;string.h&gt;</a:t>
            </a:r>
          </a:p>
          <a:p>
            <a:r>
              <a:rPr lang="es-ES" sz="800" dirty="0">
                <a:solidFill>
                  <a:srgbClr val="804000"/>
                </a:solidFill>
              </a:rPr>
              <a:t>#include &lt;mpi.h&gt;</a:t>
            </a:r>
          </a:p>
          <a:p>
            <a:r>
              <a:rPr lang="es-ES" sz="800" dirty="0">
                <a:solidFill>
                  <a:srgbClr val="804000"/>
                </a:solidFill>
              </a:rPr>
              <a:t>#include &lt;stdlib.h&gt;</a:t>
            </a: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main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argc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8000FF"/>
                </a:solidFill>
              </a:rPr>
              <a:t>char</a:t>
            </a:r>
            <a:r>
              <a:rPr lang="es-ES" sz="800" b="1" dirty="0">
                <a:solidFill>
                  <a:srgbClr val="000080"/>
                </a:solidFill>
              </a:rPr>
              <a:t>*</a:t>
            </a:r>
            <a:r>
              <a:rPr lang="es-ES" sz="800" dirty="0">
                <a:solidFill>
                  <a:srgbClr val="000000"/>
                </a:solidFill>
              </a:rPr>
              <a:t> argv</a:t>
            </a:r>
            <a:r>
              <a:rPr lang="es-ES" sz="800" b="1" dirty="0">
                <a:solidFill>
                  <a:srgbClr val="000080"/>
                </a:solidFill>
              </a:rPr>
              <a:t>[])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008000"/>
                </a:solidFill>
              </a:rPr>
              <a:t>//Para iniciar MPI</a:t>
            </a:r>
          </a:p>
          <a:p>
            <a:r>
              <a:rPr lang="it-IT" sz="800" dirty="0">
                <a:solidFill>
                  <a:srgbClr val="000000"/>
                </a:solidFill>
              </a:rPr>
              <a:t>    </a:t>
            </a:r>
            <a:r>
              <a:rPr lang="it-IT" sz="800" dirty="0">
                <a:solidFill>
                  <a:srgbClr val="8000FF"/>
                </a:solidFill>
              </a:rPr>
              <a:t>int</a:t>
            </a:r>
            <a:r>
              <a:rPr lang="it-IT" sz="800" dirty="0">
                <a:solidFill>
                  <a:srgbClr val="000000"/>
                </a:solidFill>
              </a:rPr>
              <a:t>        mi_rango</a:t>
            </a:r>
            <a:r>
              <a:rPr lang="it-IT" sz="800" b="1" dirty="0">
                <a:solidFill>
                  <a:srgbClr val="000080"/>
                </a:solidFill>
              </a:rPr>
              <a:t>;</a:t>
            </a:r>
            <a:r>
              <a:rPr lang="it-IT" sz="800" dirty="0">
                <a:solidFill>
                  <a:srgbClr val="000000"/>
                </a:solidFill>
              </a:rPr>
              <a:t>            </a:t>
            </a:r>
            <a:r>
              <a:rPr lang="it-IT" sz="800" dirty="0">
                <a:solidFill>
                  <a:srgbClr val="008000"/>
                </a:solidFill>
              </a:rPr>
              <a:t>// rango de mi proceso</a:t>
            </a: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       p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                   </a:t>
            </a:r>
            <a:r>
              <a:rPr lang="es-ES" sz="800" dirty="0">
                <a:solidFill>
                  <a:srgbClr val="008000"/>
                </a:solidFill>
              </a:rPr>
              <a:t>// numero de procesos</a:t>
            </a: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       fuente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               </a:t>
            </a:r>
            <a:r>
              <a:rPr lang="es-ES" sz="800" dirty="0">
                <a:solidFill>
                  <a:srgbClr val="008000"/>
                </a:solidFill>
              </a:rPr>
              <a:t>// rango del emisor</a:t>
            </a:r>
          </a:p>
          <a:p>
            <a:r>
              <a:rPr lang="it-IT" sz="800" dirty="0">
                <a:solidFill>
                  <a:srgbClr val="000000"/>
                </a:solidFill>
              </a:rPr>
              <a:t>    </a:t>
            </a:r>
            <a:r>
              <a:rPr lang="it-IT" sz="800" dirty="0">
                <a:solidFill>
                  <a:srgbClr val="8000FF"/>
                </a:solidFill>
              </a:rPr>
              <a:t>int</a:t>
            </a:r>
            <a:r>
              <a:rPr lang="it-IT" sz="800" dirty="0">
                <a:solidFill>
                  <a:srgbClr val="000000"/>
                </a:solidFill>
              </a:rPr>
              <a:t>        dest</a:t>
            </a:r>
            <a:r>
              <a:rPr lang="it-IT" sz="800" b="1" dirty="0">
                <a:solidFill>
                  <a:srgbClr val="000080"/>
                </a:solidFill>
              </a:rPr>
              <a:t>;</a:t>
            </a:r>
            <a:r>
              <a:rPr lang="it-IT" sz="800" dirty="0">
                <a:solidFill>
                  <a:srgbClr val="000000"/>
                </a:solidFill>
              </a:rPr>
              <a:t>                </a:t>
            </a:r>
            <a:r>
              <a:rPr lang="it-IT" sz="800" dirty="0">
                <a:solidFill>
                  <a:srgbClr val="008000"/>
                </a:solidFill>
              </a:rPr>
              <a:t>// rango del destinatario</a:t>
            </a: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       etiqueta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       </a:t>
            </a:r>
            <a:r>
              <a:rPr lang="es-ES" sz="800" dirty="0">
                <a:solidFill>
                  <a:srgbClr val="008000"/>
                </a:solidFill>
              </a:rPr>
              <a:t>// etiqueta para los mensajes</a:t>
            </a: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8000FF"/>
                </a:solidFill>
              </a:rPr>
              <a:t>char</a:t>
            </a:r>
            <a:r>
              <a:rPr lang="es-ES" sz="800" dirty="0">
                <a:solidFill>
                  <a:srgbClr val="000000"/>
                </a:solidFill>
              </a:rPr>
              <a:t>        mensaje</a:t>
            </a:r>
            <a:r>
              <a:rPr lang="es-ES" sz="800" b="1" dirty="0">
                <a:solidFill>
                  <a:srgbClr val="000080"/>
                </a:solidFill>
              </a:rPr>
              <a:t>[</a:t>
            </a:r>
            <a:r>
              <a:rPr lang="es-ES" sz="800" dirty="0">
                <a:solidFill>
                  <a:srgbClr val="FF8000"/>
                </a:solidFill>
              </a:rPr>
              <a:t>100</a:t>
            </a:r>
            <a:r>
              <a:rPr lang="es-ES" sz="800" b="1" dirty="0">
                <a:solidFill>
                  <a:srgbClr val="000080"/>
                </a:solidFill>
              </a:rPr>
              <a:t>];</a:t>
            </a:r>
            <a:r>
              <a:rPr lang="es-ES" sz="800" dirty="0">
                <a:solidFill>
                  <a:srgbClr val="000000"/>
                </a:solidFill>
              </a:rPr>
              <a:t>        </a:t>
            </a:r>
            <a:r>
              <a:rPr lang="es-ES" sz="800" dirty="0">
                <a:solidFill>
                  <a:srgbClr val="008000"/>
                </a:solidFill>
              </a:rPr>
              <a:t>// almacenamiento para el mensaje</a:t>
            </a:r>
          </a:p>
          <a:p>
            <a:r>
              <a:rPr lang="es-ES" sz="800" dirty="0">
                <a:solidFill>
                  <a:srgbClr val="000000"/>
                </a:solidFill>
              </a:rPr>
              <a:t>    MPI_Status    status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           </a:t>
            </a:r>
            <a:r>
              <a:rPr lang="es-ES" sz="800" dirty="0">
                <a:solidFill>
                  <a:srgbClr val="008000"/>
                </a:solidFill>
              </a:rPr>
              <a:t>// devuelve el status para el receptor</a:t>
            </a: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    </a:t>
            </a:r>
            <a:r>
              <a:rPr lang="es-ES" sz="800" dirty="0">
                <a:solidFill>
                  <a:srgbClr val="008000"/>
                </a:solidFill>
              </a:rPr>
              <a:t>//Para la integración de trapecios por procesos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integral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 RESULTADO DE LA INTEGRAL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a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1.0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 EXTREMO IZQUIERDO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b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100000.0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 EXTREMO DERECHO</a:t>
            </a:r>
          </a:p>
          <a:p>
            <a:r>
              <a:rPr lang="pt-BR" sz="800" dirty="0">
                <a:solidFill>
                  <a:srgbClr val="000000"/>
                </a:solidFill>
              </a:rPr>
              <a:t>	</a:t>
            </a:r>
            <a:r>
              <a:rPr lang="pt-BR" sz="800" dirty="0">
                <a:solidFill>
                  <a:srgbClr val="8000FF"/>
                </a:solidFill>
              </a:rPr>
              <a:t>int</a:t>
            </a:r>
            <a:r>
              <a:rPr lang="pt-BR" sz="800" dirty="0">
                <a:solidFill>
                  <a:srgbClr val="000000"/>
                </a:solidFill>
              </a:rPr>
              <a:t> n </a:t>
            </a:r>
            <a:r>
              <a:rPr lang="pt-BR" sz="800" b="1" dirty="0">
                <a:solidFill>
                  <a:srgbClr val="000080"/>
                </a:solidFill>
              </a:rPr>
              <a:t>=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FF8000"/>
                </a:solidFill>
              </a:rPr>
              <a:t>7927920</a:t>
            </a:r>
            <a:r>
              <a:rPr lang="pt-BR" sz="800" b="1" dirty="0">
                <a:solidFill>
                  <a:srgbClr val="000080"/>
                </a:solidFill>
              </a:rPr>
              <a:t>;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008000"/>
                </a:solidFill>
              </a:rPr>
              <a:t>// NUMERO DE TRAPECIOS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h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 LONGITUD DE LA BASE DEL TRAPECIO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x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/* FUNCION QUE ESTAMOS INTEGRANDO */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pt-BR" sz="800" dirty="0">
                <a:solidFill>
                  <a:srgbClr val="000000"/>
                </a:solidFill>
              </a:rPr>
              <a:t>	</a:t>
            </a:r>
            <a:r>
              <a:rPr lang="pt-BR" sz="800" dirty="0">
                <a:solidFill>
                  <a:srgbClr val="8000FF"/>
                </a:solidFill>
              </a:rPr>
              <a:t>float</a:t>
            </a:r>
            <a:r>
              <a:rPr lang="pt-BR" sz="800" dirty="0">
                <a:solidFill>
                  <a:srgbClr val="000000"/>
                </a:solidFill>
              </a:rPr>
              <a:t> integralFuncion</a:t>
            </a:r>
            <a:r>
              <a:rPr lang="pt-BR" sz="800" b="1" dirty="0">
                <a:solidFill>
                  <a:srgbClr val="000080"/>
                </a:solidFill>
              </a:rPr>
              <a:t>(</a:t>
            </a:r>
            <a:r>
              <a:rPr lang="pt-BR" sz="800" dirty="0">
                <a:solidFill>
                  <a:srgbClr val="8000FF"/>
                </a:solidFill>
              </a:rPr>
              <a:t>float</a:t>
            </a:r>
            <a:r>
              <a:rPr lang="pt-BR" sz="800" dirty="0">
                <a:solidFill>
                  <a:srgbClr val="000000"/>
                </a:solidFill>
              </a:rPr>
              <a:t> h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8000FF"/>
                </a:solidFill>
              </a:rPr>
              <a:t>int</a:t>
            </a:r>
            <a:r>
              <a:rPr lang="pt-BR" sz="800" dirty="0">
                <a:solidFill>
                  <a:srgbClr val="000000"/>
                </a:solidFill>
              </a:rPr>
              <a:t> n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8000FF"/>
                </a:solidFill>
              </a:rPr>
              <a:t>float</a:t>
            </a:r>
            <a:r>
              <a:rPr lang="pt-BR" sz="800" dirty="0">
                <a:solidFill>
                  <a:srgbClr val="000000"/>
                </a:solidFill>
              </a:rPr>
              <a:t> a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8000FF"/>
                </a:solidFill>
              </a:rPr>
              <a:t>float</a:t>
            </a:r>
            <a:r>
              <a:rPr lang="pt-BR" sz="800" dirty="0">
                <a:solidFill>
                  <a:srgbClr val="000000"/>
                </a:solidFill>
              </a:rPr>
              <a:t> b</a:t>
            </a:r>
            <a:r>
              <a:rPr lang="pt-BR" sz="800" b="1" dirty="0">
                <a:solidFill>
                  <a:srgbClr val="000080"/>
                </a:solidFill>
              </a:rPr>
              <a:t>);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008000"/>
                </a:solidFill>
              </a:rPr>
              <a:t>/* CALCULO INTEGRAL */</a:t>
            </a:r>
            <a:endParaRPr lang="pt-BR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acum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//acumulador de los procesos para luego sumarlos</a:t>
            </a: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008000"/>
                </a:solidFill>
              </a:rPr>
              <a:t>//Variables parte 2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double</a:t>
            </a:r>
            <a:r>
              <a:rPr lang="es-ES" sz="800" dirty="0">
                <a:solidFill>
                  <a:srgbClr val="000000"/>
                </a:solidFill>
              </a:rPr>
              <a:t> inicio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fin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008000"/>
                </a:solidFill>
              </a:rPr>
              <a:t>//inicio MPI</a:t>
            </a:r>
          </a:p>
          <a:p>
            <a:r>
              <a:rPr lang="it-IT" sz="800" dirty="0">
                <a:solidFill>
                  <a:srgbClr val="000000"/>
                </a:solidFill>
              </a:rPr>
              <a:t>	MPI_Init</a:t>
            </a:r>
            <a:r>
              <a:rPr lang="it-IT" sz="800" b="1" dirty="0">
                <a:solidFill>
                  <a:srgbClr val="000080"/>
                </a:solidFill>
              </a:rPr>
              <a:t>(&amp;</a:t>
            </a:r>
            <a:r>
              <a:rPr lang="it-IT" sz="800" dirty="0">
                <a:solidFill>
                  <a:srgbClr val="000000"/>
                </a:solidFill>
              </a:rPr>
              <a:t>argc</a:t>
            </a:r>
            <a:r>
              <a:rPr lang="it-IT" sz="800" b="1" dirty="0">
                <a:solidFill>
                  <a:srgbClr val="000080"/>
                </a:solidFill>
              </a:rPr>
              <a:t>,</a:t>
            </a:r>
            <a:r>
              <a:rPr lang="it-IT" sz="800" dirty="0">
                <a:solidFill>
                  <a:srgbClr val="000000"/>
                </a:solidFill>
              </a:rPr>
              <a:t> </a:t>
            </a:r>
            <a:r>
              <a:rPr lang="it-IT" sz="800" b="1" dirty="0">
                <a:solidFill>
                  <a:srgbClr val="000080"/>
                </a:solidFill>
              </a:rPr>
              <a:t>&amp;</a:t>
            </a:r>
            <a:r>
              <a:rPr lang="it-IT" sz="800" dirty="0">
                <a:solidFill>
                  <a:srgbClr val="000000"/>
                </a:solidFill>
              </a:rPr>
              <a:t>argv</a:t>
            </a:r>
            <a:r>
              <a:rPr lang="it-IT" sz="800" b="1" dirty="0">
                <a:solidFill>
                  <a:srgbClr val="000080"/>
                </a:solidFill>
              </a:rPr>
              <a:t>);</a:t>
            </a:r>
            <a:r>
              <a:rPr lang="it-IT" sz="800" dirty="0">
                <a:solidFill>
                  <a:srgbClr val="000000"/>
                </a:solidFill>
              </a:rPr>
              <a:t>        </a:t>
            </a:r>
            <a:r>
              <a:rPr lang="it-IT" sz="800" dirty="0">
                <a:solidFill>
                  <a:srgbClr val="008000"/>
                </a:solidFill>
              </a:rPr>
              <a:t>// Inicializa MPI</a:t>
            </a:r>
          </a:p>
          <a:p>
            <a:r>
              <a:rPr lang="it-IT" sz="800" dirty="0">
                <a:solidFill>
                  <a:srgbClr val="000000"/>
                </a:solidFill>
              </a:rPr>
              <a:t>	MPI_Comm_rank</a:t>
            </a:r>
            <a:r>
              <a:rPr lang="it-IT" sz="800" b="1" dirty="0">
                <a:solidFill>
                  <a:srgbClr val="000080"/>
                </a:solidFill>
              </a:rPr>
              <a:t>(</a:t>
            </a:r>
            <a:r>
              <a:rPr lang="it-IT" sz="800" dirty="0">
                <a:solidFill>
                  <a:srgbClr val="000000"/>
                </a:solidFill>
              </a:rPr>
              <a:t>MPI_COMM_WORLD</a:t>
            </a:r>
            <a:r>
              <a:rPr lang="it-IT" sz="800" b="1" dirty="0">
                <a:solidFill>
                  <a:srgbClr val="000080"/>
                </a:solidFill>
              </a:rPr>
              <a:t>,</a:t>
            </a:r>
            <a:r>
              <a:rPr lang="it-IT" sz="800" dirty="0">
                <a:solidFill>
                  <a:srgbClr val="000000"/>
                </a:solidFill>
              </a:rPr>
              <a:t> </a:t>
            </a:r>
            <a:r>
              <a:rPr lang="it-IT" sz="800" b="1" dirty="0">
                <a:solidFill>
                  <a:srgbClr val="000080"/>
                </a:solidFill>
              </a:rPr>
              <a:t>&amp;</a:t>
            </a:r>
            <a:r>
              <a:rPr lang="it-IT" sz="800" dirty="0">
                <a:solidFill>
                  <a:srgbClr val="000000"/>
                </a:solidFill>
              </a:rPr>
              <a:t>mi_rango</a:t>
            </a:r>
            <a:r>
              <a:rPr lang="it-IT" sz="800" b="1" dirty="0">
                <a:solidFill>
                  <a:srgbClr val="000080"/>
                </a:solidFill>
              </a:rPr>
              <a:t>);</a:t>
            </a:r>
            <a:endParaRPr lang="it-IT" sz="800" dirty="0">
              <a:solidFill>
                <a:srgbClr val="000000"/>
              </a:solidFill>
            </a:endParaRPr>
          </a:p>
          <a:p>
            <a:r>
              <a:rPr lang="en-US" sz="800" dirty="0">
                <a:solidFill>
                  <a:srgbClr val="000000"/>
                </a:solidFill>
              </a:rPr>
              <a:t>	MPI_Comm_size</a:t>
            </a:r>
            <a:r>
              <a:rPr lang="en-US" sz="800" b="1" dirty="0">
                <a:solidFill>
                  <a:srgbClr val="000080"/>
                </a:solidFill>
              </a:rPr>
              <a:t>(</a:t>
            </a:r>
            <a:r>
              <a:rPr lang="en-US" sz="800" dirty="0">
                <a:solidFill>
                  <a:srgbClr val="000000"/>
                </a:solidFill>
              </a:rPr>
              <a:t>MPI_COMM_WORLD</a:t>
            </a:r>
            <a:r>
              <a:rPr lang="en-US" sz="800" b="1" dirty="0">
                <a:solidFill>
                  <a:srgbClr val="000080"/>
                </a:solidFill>
              </a:rPr>
              <a:t>,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b="1" dirty="0">
                <a:solidFill>
                  <a:srgbClr val="000080"/>
                </a:solidFill>
              </a:rPr>
              <a:t>&amp;</a:t>
            </a:r>
            <a:r>
              <a:rPr lang="en-US" sz="800" dirty="0">
                <a:solidFill>
                  <a:srgbClr val="000000"/>
                </a:solidFill>
              </a:rPr>
              <a:t>p</a:t>
            </a:r>
            <a:r>
              <a:rPr lang="en-US" sz="800" b="1" dirty="0">
                <a:solidFill>
                  <a:srgbClr val="000080"/>
                </a:solidFill>
              </a:rPr>
              <a:t>);</a:t>
            </a:r>
            <a:endParaRPr lang="en-U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inicio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MPI_Wtime</a:t>
            </a:r>
            <a:r>
              <a:rPr lang="es-ES" sz="800" b="1" dirty="0">
                <a:solidFill>
                  <a:srgbClr val="000080"/>
                </a:solidFill>
              </a:rPr>
              <a:t>();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//empieza a contar</a:t>
            </a:r>
          </a:p>
          <a:p>
            <a:r>
              <a:rPr lang="es-ES" sz="800" dirty="0">
                <a:solidFill>
                  <a:srgbClr val="000000"/>
                </a:solidFill>
              </a:rPr>
              <a:t>	h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b </a:t>
            </a:r>
            <a:r>
              <a:rPr lang="es-ES" sz="800" b="1" dirty="0">
                <a:solidFill>
                  <a:srgbClr val="000080"/>
                </a:solidFill>
              </a:rPr>
              <a:t>-</a:t>
            </a:r>
            <a:r>
              <a:rPr lang="es-ES" sz="800" dirty="0">
                <a:solidFill>
                  <a:srgbClr val="000000"/>
                </a:solidFill>
              </a:rPr>
              <a:t> a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/</a:t>
            </a:r>
            <a:r>
              <a:rPr lang="es-ES" sz="800" dirty="0">
                <a:solidFill>
                  <a:srgbClr val="000000"/>
                </a:solidFill>
              </a:rPr>
              <a:t> n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acum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pt-BR" sz="800" dirty="0">
                <a:solidFill>
                  <a:srgbClr val="000000"/>
                </a:solidFill>
              </a:rPr>
              <a:t>	integral </a:t>
            </a:r>
            <a:r>
              <a:rPr lang="pt-BR" sz="800" b="1" dirty="0">
                <a:solidFill>
                  <a:srgbClr val="000080"/>
                </a:solidFill>
              </a:rPr>
              <a:t>=</a:t>
            </a:r>
            <a:r>
              <a:rPr lang="pt-BR" sz="800" dirty="0">
                <a:solidFill>
                  <a:srgbClr val="000000"/>
                </a:solidFill>
              </a:rPr>
              <a:t> integralFuncion</a:t>
            </a:r>
            <a:r>
              <a:rPr lang="pt-BR" sz="800" b="1" dirty="0">
                <a:solidFill>
                  <a:srgbClr val="000080"/>
                </a:solidFill>
              </a:rPr>
              <a:t>(</a:t>
            </a:r>
            <a:r>
              <a:rPr lang="pt-BR" sz="800" dirty="0">
                <a:solidFill>
                  <a:srgbClr val="000000"/>
                </a:solidFill>
              </a:rPr>
              <a:t>h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n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a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b</a:t>
            </a:r>
            <a:r>
              <a:rPr lang="pt-BR" sz="800" b="1" dirty="0">
                <a:solidFill>
                  <a:srgbClr val="000080"/>
                </a:solidFill>
              </a:rPr>
              <a:t>);</a:t>
            </a: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pt-BR" sz="800" b="1" dirty="0">
              <a:solidFill>
                <a:srgbClr val="00008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if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mi_rango </a:t>
            </a:r>
            <a:r>
              <a:rPr lang="es-ES" sz="800" b="1" dirty="0">
                <a:solidFill>
                  <a:srgbClr val="000080"/>
                </a:solidFill>
              </a:rPr>
              <a:t>==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0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acum </a:t>
            </a:r>
            <a:r>
              <a:rPr lang="es-ES" sz="800" b="1" dirty="0">
                <a:solidFill>
                  <a:srgbClr val="000080"/>
                </a:solidFill>
              </a:rPr>
              <a:t>+=</a:t>
            </a:r>
            <a:r>
              <a:rPr lang="es-ES" sz="800" dirty="0">
                <a:solidFill>
                  <a:srgbClr val="000000"/>
                </a:solidFill>
              </a:rPr>
              <a:t> integral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</a:t>
            </a:r>
            <a:r>
              <a:rPr lang="es-ES" sz="800" b="1" dirty="0">
                <a:solidFill>
                  <a:srgbClr val="0000FF"/>
                </a:solidFill>
              </a:rPr>
              <a:t>for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fuente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fuente </a:t>
            </a:r>
            <a:r>
              <a:rPr lang="es-ES" sz="800" b="1" dirty="0">
                <a:solidFill>
                  <a:srgbClr val="000080"/>
                </a:solidFill>
              </a:rPr>
              <a:t>&lt;</a:t>
            </a:r>
            <a:r>
              <a:rPr lang="es-ES" sz="800" dirty="0">
                <a:solidFill>
                  <a:srgbClr val="000000"/>
                </a:solidFill>
              </a:rPr>
              <a:t> p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r>
              <a:rPr lang="es-ES" sz="800" dirty="0">
                <a:solidFill>
                  <a:srgbClr val="000000"/>
                </a:solidFill>
              </a:rPr>
              <a:t> fuente</a:t>
            </a:r>
            <a:r>
              <a:rPr lang="es-ES" sz="800" b="1" dirty="0">
                <a:solidFill>
                  <a:srgbClr val="000080"/>
                </a:solidFill>
              </a:rPr>
              <a:t>++)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	MPI_Recv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mensaje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100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MPI_CHAR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fuente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etiqueta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MPI_COMM_WORLD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				</a:t>
            </a:r>
            <a:r>
              <a:rPr lang="es-ES" sz="800" b="1" dirty="0">
                <a:solidFill>
                  <a:srgbClr val="000080"/>
                </a:solidFill>
              </a:rPr>
              <a:t>&amp;</a:t>
            </a:r>
            <a:r>
              <a:rPr lang="es-ES" sz="800" dirty="0">
                <a:solidFill>
                  <a:srgbClr val="000000"/>
                </a:solidFill>
              </a:rPr>
              <a:t>status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	acum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acum </a:t>
            </a:r>
            <a:r>
              <a:rPr lang="es-ES" sz="800" b="1" dirty="0">
                <a:solidFill>
                  <a:srgbClr val="000080"/>
                </a:solidFill>
              </a:rPr>
              <a:t>+</a:t>
            </a:r>
            <a:r>
              <a:rPr lang="es-ES" sz="800" dirty="0">
                <a:solidFill>
                  <a:srgbClr val="000000"/>
                </a:solidFill>
              </a:rPr>
              <a:t> atof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mensaje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</a:t>
            </a:r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</a:t>
            </a:r>
          </a:p>
          <a:p>
            <a:r>
              <a:rPr lang="pt-BR" sz="800" dirty="0">
                <a:solidFill>
                  <a:srgbClr val="000000"/>
                </a:solidFill>
              </a:rPr>
              <a:t>		printf</a:t>
            </a:r>
            <a:r>
              <a:rPr lang="pt-BR" sz="800" b="1" dirty="0">
                <a:solidFill>
                  <a:srgbClr val="000080"/>
                </a:solidFill>
              </a:rPr>
              <a:t>(</a:t>
            </a:r>
            <a:r>
              <a:rPr lang="pt-BR" sz="800" dirty="0">
                <a:solidFill>
                  <a:srgbClr val="808080"/>
                </a:solidFill>
              </a:rPr>
              <a:t>"ESTIMACION USANDO n=%d TRAPECIOS,\n"</a:t>
            </a:r>
            <a:r>
              <a:rPr lang="pt-BR" sz="800" b="1" dirty="0">
                <a:solidFill>
                  <a:srgbClr val="000080"/>
                </a:solidFill>
              </a:rPr>
              <a:t>,</a:t>
            </a:r>
            <a:r>
              <a:rPr lang="pt-BR" sz="800" dirty="0">
                <a:solidFill>
                  <a:srgbClr val="000000"/>
                </a:solidFill>
              </a:rPr>
              <a:t> n</a:t>
            </a:r>
            <a:r>
              <a:rPr lang="pt-BR" sz="800" b="1" dirty="0">
                <a:solidFill>
                  <a:srgbClr val="000080"/>
                </a:solidFill>
              </a:rPr>
              <a:t>);</a:t>
            </a:r>
            <a:endParaRPr lang="pt-BR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printf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8080"/>
                </a:solidFill>
              </a:rPr>
              <a:t>"DE LA INTEGRAL DESDE %f HASTA %f = %f \n"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a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b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acum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fin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MPI_Wtime</a:t>
            </a:r>
            <a:r>
              <a:rPr lang="es-ES" sz="800" b="1" dirty="0">
                <a:solidFill>
                  <a:srgbClr val="000080"/>
                </a:solidFill>
              </a:rPr>
              <a:t>();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//para de contar</a:t>
            </a:r>
          </a:p>
          <a:p>
            <a:r>
              <a:rPr lang="es-ES" sz="800" dirty="0">
                <a:solidFill>
                  <a:srgbClr val="000000"/>
                </a:solidFill>
              </a:rPr>
              <a:t>		printf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8080"/>
                </a:solidFill>
              </a:rPr>
              <a:t>"\nTIEMPO PARA %i PROCESOS: %f\n"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p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fin </a:t>
            </a:r>
            <a:r>
              <a:rPr lang="es-ES" sz="800" b="1" dirty="0">
                <a:solidFill>
                  <a:srgbClr val="000080"/>
                </a:solidFill>
              </a:rPr>
              <a:t>-</a:t>
            </a:r>
            <a:r>
              <a:rPr lang="es-ES" sz="800" dirty="0">
                <a:solidFill>
                  <a:srgbClr val="000000"/>
                </a:solidFill>
              </a:rPr>
              <a:t> inicio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else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r>
              <a:rPr lang="es-ES" sz="800" dirty="0">
                <a:solidFill>
                  <a:srgbClr val="000000"/>
                </a:solidFill>
              </a:rPr>
              <a:t>  </a:t>
            </a:r>
            <a:r>
              <a:rPr lang="es-ES" sz="800" dirty="0">
                <a:solidFill>
                  <a:srgbClr val="008000"/>
                </a:solidFill>
              </a:rPr>
              <a:t>// mi_rango != 0</a:t>
            </a:r>
          </a:p>
          <a:p>
            <a:r>
              <a:rPr lang="es-ES" sz="800" dirty="0">
                <a:solidFill>
                  <a:srgbClr val="000000"/>
                </a:solidFill>
              </a:rPr>
              <a:t>		</a:t>
            </a:r>
            <a:r>
              <a:rPr lang="es-ES" sz="800" dirty="0">
                <a:solidFill>
                  <a:srgbClr val="008000"/>
                </a:solidFill>
              </a:rPr>
              <a:t>/* Crea mensaje */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sprintf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mensaje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808080"/>
                </a:solidFill>
              </a:rPr>
              <a:t>"%f"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integral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dest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MPI_Send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mensaje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strlen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mensaje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+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MPI_CHAR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dest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etiqueta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MPI_COMM_WORLD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fin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MPI_Wtime</a:t>
            </a:r>
            <a:r>
              <a:rPr lang="es-ES" sz="800" b="1" dirty="0">
                <a:solidFill>
                  <a:srgbClr val="000080"/>
                </a:solidFill>
              </a:rPr>
              <a:t>();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008000"/>
                </a:solidFill>
              </a:rPr>
              <a:t>//para de contar</a:t>
            </a:r>
          </a:p>
          <a:p>
            <a:r>
              <a:rPr lang="es-ES" sz="800" dirty="0">
                <a:solidFill>
                  <a:srgbClr val="000000"/>
                </a:solidFill>
              </a:rPr>
              <a:t>	MPI_Finalize</a:t>
            </a:r>
            <a:r>
              <a:rPr lang="es-ES" sz="800" b="1" dirty="0">
                <a:solidFill>
                  <a:srgbClr val="000080"/>
                </a:solidFill>
              </a:rPr>
              <a:t>();</a:t>
            </a:r>
            <a:r>
              <a:rPr lang="es-ES" sz="800" dirty="0">
                <a:solidFill>
                  <a:srgbClr val="000000"/>
                </a:solidFill>
              </a:rPr>
              <a:t>            </a:t>
            </a:r>
            <a:r>
              <a:rPr lang="es-ES" sz="800" dirty="0">
                <a:solidFill>
                  <a:srgbClr val="008000"/>
                </a:solidFill>
              </a:rPr>
              <a:t>// Cierra el universo MPI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return</a:t>
            </a:r>
            <a:r>
              <a:rPr lang="es-ES" sz="800" dirty="0">
                <a:solidFill>
                  <a:srgbClr val="000000"/>
                </a:solidFill>
              </a:rPr>
              <a:t> MPI_SUCCESS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b="1" dirty="0">
                <a:solidFill>
                  <a:srgbClr val="000080"/>
                </a:solidFill>
              </a:rPr>
              <a:t>}</a:t>
            </a:r>
            <a:r>
              <a:rPr lang="es-ES" sz="800" dirty="0">
                <a:solidFill>
                  <a:srgbClr val="000000"/>
                </a:solidFill>
              </a:rPr>
              <a:t>  </a:t>
            </a:r>
            <a:r>
              <a:rPr lang="es-ES" sz="800" dirty="0">
                <a:solidFill>
                  <a:srgbClr val="008000"/>
                </a:solidFill>
              </a:rPr>
              <a:t>// main</a:t>
            </a: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8000"/>
                </a:solidFill>
              </a:rPr>
              <a:t>/* FUNCION QUE ESTAMOS INTEGRANDO */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x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r>
              <a:rPr lang="es-ES" sz="800" dirty="0">
                <a:solidFill>
                  <a:srgbClr val="000000"/>
                </a:solidFill>
              </a:rPr>
              <a:t>	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return</a:t>
            </a:r>
            <a:r>
              <a:rPr lang="es-ES" sz="800" dirty="0">
                <a:solidFill>
                  <a:srgbClr val="000000"/>
                </a:solidFill>
              </a:rPr>
              <a:t> log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x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8000"/>
                </a:solidFill>
              </a:rPr>
              <a:t>/* CALCULO INTEGRAL */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n-US" sz="800" dirty="0">
                <a:solidFill>
                  <a:srgbClr val="8000FF"/>
                </a:solidFill>
              </a:rPr>
              <a:t>float</a:t>
            </a:r>
            <a:r>
              <a:rPr lang="en-US" sz="800" dirty="0">
                <a:solidFill>
                  <a:srgbClr val="000000"/>
                </a:solidFill>
              </a:rPr>
              <a:t> integralFuncion</a:t>
            </a:r>
            <a:r>
              <a:rPr lang="en-US" sz="800" b="1" dirty="0">
                <a:solidFill>
                  <a:srgbClr val="000080"/>
                </a:solidFill>
              </a:rPr>
              <a:t>(</a:t>
            </a:r>
            <a:r>
              <a:rPr lang="en-US" sz="800" dirty="0">
                <a:solidFill>
                  <a:srgbClr val="8000FF"/>
                </a:solidFill>
              </a:rPr>
              <a:t>float</a:t>
            </a:r>
            <a:r>
              <a:rPr lang="en-US" sz="800" dirty="0">
                <a:solidFill>
                  <a:srgbClr val="000000"/>
                </a:solidFill>
              </a:rPr>
              <a:t> h</a:t>
            </a:r>
            <a:r>
              <a:rPr lang="en-US" sz="800" b="1" dirty="0">
                <a:solidFill>
                  <a:srgbClr val="000080"/>
                </a:solidFill>
              </a:rPr>
              <a:t>,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8000FF"/>
                </a:solidFill>
              </a:rPr>
              <a:t>int</a:t>
            </a:r>
            <a:r>
              <a:rPr lang="en-US" sz="800" dirty="0">
                <a:solidFill>
                  <a:srgbClr val="000000"/>
                </a:solidFill>
              </a:rPr>
              <a:t> n</a:t>
            </a:r>
            <a:r>
              <a:rPr lang="en-US" sz="800" b="1" dirty="0">
                <a:solidFill>
                  <a:srgbClr val="000080"/>
                </a:solidFill>
              </a:rPr>
              <a:t>,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8000FF"/>
                </a:solidFill>
              </a:rPr>
              <a:t>float</a:t>
            </a:r>
            <a:r>
              <a:rPr lang="en-US" sz="800" dirty="0">
                <a:solidFill>
                  <a:srgbClr val="000000"/>
                </a:solidFill>
              </a:rPr>
              <a:t> a</a:t>
            </a:r>
            <a:r>
              <a:rPr lang="en-US" sz="800" b="1" dirty="0">
                <a:solidFill>
                  <a:srgbClr val="000080"/>
                </a:solidFill>
              </a:rPr>
              <a:t>,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dirty="0">
                <a:solidFill>
                  <a:srgbClr val="8000FF"/>
                </a:solidFill>
              </a:rPr>
              <a:t>float</a:t>
            </a:r>
            <a:r>
              <a:rPr lang="en-US" sz="800" dirty="0">
                <a:solidFill>
                  <a:srgbClr val="000000"/>
                </a:solidFill>
              </a:rPr>
              <a:t> b</a:t>
            </a:r>
            <a:r>
              <a:rPr lang="en-US" sz="800" b="1" dirty="0">
                <a:solidFill>
                  <a:srgbClr val="000080"/>
                </a:solidFill>
              </a:rPr>
              <a:t>)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b="1" dirty="0">
                <a:solidFill>
                  <a:srgbClr val="000080"/>
                </a:solidFill>
              </a:rPr>
              <a:t>{</a:t>
            </a:r>
            <a:endParaRPr lang="en-U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double</a:t>
            </a:r>
            <a:r>
              <a:rPr lang="es-ES" sz="800" dirty="0">
                <a:solidFill>
                  <a:srgbClr val="000000"/>
                </a:solidFill>
              </a:rPr>
              <a:t> return_val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0.0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mi_rango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p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8000FF"/>
                </a:solidFill>
              </a:rPr>
              <a:t>float</a:t>
            </a:r>
            <a:r>
              <a:rPr lang="es-ES" sz="800" dirty="0">
                <a:solidFill>
                  <a:srgbClr val="000000"/>
                </a:solidFill>
              </a:rPr>
              <a:t> x</a:t>
            </a:r>
            <a:r>
              <a:rPr lang="es-ES" sz="800" b="1" dirty="0">
                <a:solidFill>
                  <a:srgbClr val="000080"/>
                </a:solidFill>
              </a:rPr>
              <a:t>,</a:t>
            </a:r>
            <a:r>
              <a:rPr lang="es-ES" sz="800" dirty="0">
                <a:solidFill>
                  <a:srgbClr val="000000"/>
                </a:solidFill>
              </a:rPr>
              <a:t> y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it-IT" sz="800" dirty="0">
                <a:solidFill>
                  <a:srgbClr val="000000"/>
                </a:solidFill>
              </a:rPr>
              <a:t>	MPI_Comm_rank</a:t>
            </a:r>
            <a:r>
              <a:rPr lang="it-IT" sz="800" b="1" dirty="0">
                <a:solidFill>
                  <a:srgbClr val="000080"/>
                </a:solidFill>
              </a:rPr>
              <a:t>(</a:t>
            </a:r>
            <a:r>
              <a:rPr lang="it-IT" sz="800" dirty="0">
                <a:solidFill>
                  <a:srgbClr val="000000"/>
                </a:solidFill>
              </a:rPr>
              <a:t>MPI_COMM_WORLD</a:t>
            </a:r>
            <a:r>
              <a:rPr lang="it-IT" sz="800" b="1" dirty="0">
                <a:solidFill>
                  <a:srgbClr val="000080"/>
                </a:solidFill>
              </a:rPr>
              <a:t>,</a:t>
            </a:r>
            <a:r>
              <a:rPr lang="it-IT" sz="800" dirty="0">
                <a:solidFill>
                  <a:srgbClr val="000000"/>
                </a:solidFill>
              </a:rPr>
              <a:t> </a:t>
            </a:r>
            <a:r>
              <a:rPr lang="it-IT" sz="800" b="1" dirty="0">
                <a:solidFill>
                  <a:srgbClr val="000080"/>
                </a:solidFill>
              </a:rPr>
              <a:t>&amp;</a:t>
            </a:r>
            <a:r>
              <a:rPr lang="it-IT" sz="800" dirty="0">
                <a:solidFill>
                  <a:srgbClr val="000000"/>
                </a:solidFill>
              </a:rPr>
              <a:t>mi_rango</a:t>
            </a:r>
            <a:r>
              <a:rPr lang="it-IT" sz="800" b="1" dirty="0">
                <a:solidFill>
                  <a:srgbClr val="000080"/>
                </a:solidFill>
              </a:rPr>
              <a:t>);</a:t>
            </a:r>
            <a:endParaRPr lang="it-IT" sz="800" dirty="0">
              <a:solidFill>
                <a:srgbClr val="000000"/>
              </a:solidFill>
            </a:endParaRPr>
          </a:p>
          <a:p>
            <a:r>
              <a:rPr lang="en-US" sz="800" dirty="0">
                <a:solidFill>
                  <a:srgbClr val="000000"/>
                </a:solidFill>
              </a:rPr>
              <a:t>	MPI_Comm_size</a:t>
            </a:r>
            <a:r>
              <a:rPr lang="en-US" sz="800" b="1" dirty="0">
                <a:solidFill>
                  <a:srgbClr val="000080"/>
                </a:solidFill>
              </a:rPr>
              <a:t>(</a:t>
            </a:r>
            <a:r>
              <a:rPr lang="en-US" sz="800" dirty="0">
                <a:solidFill>
                  <a:srgbClr val="000000"/>
                </a:solidFill>
              </a:rPr>
              <a:t>MPI_COMM_WORLD</a:t>
            </a:r>
            <a:r>
              <a:rPr lang="en-US" sz="800" b="1" dirty="0">
                <a:solidFill>
                  <a:srgbClr val="000080"/>
                </a:solidFill>
              </a:rPr>
              <a:t>,</a:t>
            </a:r>
            <a:r>
              <a:rPr lang="en-US" sz="800" dirty="0">
                <a:solidFill>
                  <a:srgbClr val="000000"/>
                </a:solidFill>
              </a:rPr>
              <a:t> </a:t>
            </a:r>
            <a:r>
              <a:rPr lang="en-US" sz="800" b="1" dirty="0">
                <a:solidFill>
                  <a:srgbClr val="000080"/>
                </a:solidFill>
              </a:rPr>
              <a:t>&amp;</a:t>
            </a:r>
            <a:r>
              <a:rPr lang="en-US" sz="800" dirty="0">
                <a:solidFill>
                  <a:srgbClr val="000000"/>
                </a:solidFill>
              </a:rPr>
              <a:t>p</a:t>
            </a:r>
            <a:r>
              <a:rPr lang="en-US" sz="800" b="1" dirty="0">
                <a:solidFill>
                  <a:srgbClr val="000080"/>
                </a:solidFill>
              </a:rPr>
              <a:t>);</a:t>
            </a:r>
            <a:endParaRPr lang="en-US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dirty="0">
                <a:solidFill>
                  <a:srgbClr val="008000"/>
                </a:solidFill>
              </a:rPr>
              <a:t>//Para cada trapecio asociado a un proceso</a:t>
            </a: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for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8000FF"/>
                </a:solidFill>
              </a:rPr>
              <a:t>int</a:t>
            </a:r>
            <a:r>
              <a:rPr lang="es-ES" sz="800" dirty="0">
                <a:solidFill>
                  <a:srgbClr val="000000"/>
                </a:solidFill>
              </a:rPr>
              <a:t> i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mi_rango </a:t>
            </a:r>
            <a:r>
              <a:rPr lang="es-ES" sz="800" b="1" dirty="0">
                <a:solidFill>
                  <a:srgbClr val="000080"/>
                </a:solidFill>
              </a:rPr>
              <a:t>*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n </a:t>
            </a:r>
            <a:r>
              <a:rPr lang="es-ES" sz="800" b="1" dirty="0">
                <a:solidFill>
                  <a:srgbClr val="000080"/>
                </a:solidFill>
              </a:rPr>
              <a:t>/</a:t>
            </a:r>
            <a:r>
              <a:rPr lang="es-ES" sz="800" dirty="0">
                <a:solidFill>
                  <a:srgbClr val="000000"/>
                </a:solidFill>
              </a:rPr>
              <a:t> p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r>
              <a:rPr lang="es-ES" sz="800" dirty="0">
                <a:solidFill>
                  <a:srgbClr val="000000"/>
                </a:solidFill>
              </a:rPr>
              <a:t> i </a:t>
            </a:r>
            <a:r>
              <a:rPr lang="es-ES" sz="800" b="1" dirty="0">
                <a:solidFill>
                  <a:srgbClr val="000080"/>
                </a:solidFill>
              </a:rPr>
              <a:t>&lt;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mi_rango </a:t>
            </a:r>
            <a:r>
              <a:rPr lang="es-ES" sz="800" b="1" dirty="0">
                <a:solidFill>
                  <a:srgbClr val="000080"/>
                </a:solidFill>
              </a:rPr>
              <a:t>+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1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*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n </a:t>
            </a:r>
            <a:r>
              <a:rPr lang="es-ES" sz="800" b="1" dirty="0">
                <a:solidFill>
                  <a:srgbClr val="000080"/>
                </a:solidFill>
              </a:rPr>
              <a:t>/</a:t>
            </a:r>
            <a:r>
              <a:rPr lang="es-ES" sz="800" dirty="0">
                <a:solidFill>
                  <a:srgbClr val="000000"/>
                </a:solidFill>
              </a:rPr>
              <a:t> p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r>
              <a:rPr lang="es-ES" sz="800" dirty="0">
                <a:solidFill>
                  <a:srgbClr val="000000"/>
                </a:solidFill>
              </a:rPr>
              <a:t> i</a:t>
            </a:r>
            <a:r>
              <a:rPr lang="es-ES" sz="800" b="1" dirty="0">
                <a:solidFill>
                  <a:srgbClr val="000080"/>
                </a:solidFill>
              </a:rPr>
              <a:t>++)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{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x </a:t>
            </a:r>
            <a:r>
              <a:rPr lang="es-ES" sz="800" b="1" dirty="0">
                <a:solidFill>
                  <a:srgbClr val="000080"/>
                </a:solidFill>
              </a:rPr>
              <a:t>=</a:t>
            </a:r>
            <a:r>
              <a:rPr lang="es-ES" sz="800" dirty="0">
                <a:solidFill>
                  <a:srgbClr val="000000"/>
                </a:solidFill>
              </a:rPr>
              <a:t> a </a:t>
            </a:r>
            <a:r>
              <a:rPr lang="es-ES" sz="800" b="1" dirty="0">
                <a:solidFill>
                  <a:srgbClr val="000080"/>
                </a:solidFill>
              </a:rPr>
              <a:t>+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i </a:t>
            </a:r>
            <a:r>
              <a:rPr lang="es-ES" sz="800" b="1" dirty="0">
                <a:solidFill>
                  <a:srgbClr val="000080"/>
                </a:solidFill>
              </a:rPr>
              <a:t>*</a:t>
            </a:r>
            <a:r>
              <a:rPr lang="es-ES" sz="800" dirty="0">
                <a:solidFill>
                  <a:srgbClr val="000000"/>
                </a:solidFill>
              </a:rPr>
              <a:t> h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pt-BR" sz="800" dirty="0">
                <a:solidFill>
                  <a:srgbClr val="000000"/>
                </a:solidFill>
              </a:rPr>
              <a:t>		y </a:t>
            </a:r>
            <a:r>
              <a:rPr lang="pt-BR" sz="800" b="1" dirty="0">
                <a:solidFill>
                  <a:srgbClr val="000080"/>
                </a:solidFill>
              </a:rPr>
              <a:t>=</a:t>
            </a:r>
            <a:r>
              <a:rPr lang="pt-BR" sz="800" dirty="0">
                <a:solidFill>
                  <a:srgbClr val="000000"/>
                </a:solidFill>
              </a:rPr>
              <a:t> a </a:t>
            </a:r>
            <a:r>
              <a:rPr lang="pt-BR" sz="800" b="1" dirty="0">
                <a:solidFill>
                  <a:srgbClr val="000080"/>
                </a:solidFill>
              </a:rPr>
              <a:t>+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b="1" dirty="0">
                <a:solidFill>
                  <a:srgbClr val="000080"/>
                </a:solidFill>
              </a:rPr>
              <a:t>((</a:t>
            </a:r>
            <a:r>
              <a:rPr lang="pt-BR" sz="800" dirty="0">
                <a:solidFill>
                  <a:srgbClr val="000000"/>
                </a:solidFill>
              </a:rPr>
              <a:t>i </a:t>
            </a:r>
            <a:r>
              <a:rPr lang="pt-BR" sz="800" b="1" dirty="0">
                <a:solidFill>
                  <a:srgbClr val="000080"/>
                </a:solidFill>
              </a:rPr>
              <a:t>+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dirty="0">
                <a:solidFill>
                  <a:srgbClr val="FF8000"/>
                </a:solidFill>
              </a:rPr>
              <a:t>1</a:t>
            </a:r>
            <a:r>
              <a:rPr lang="pt-BR" sz="800" b="1" dirty="0">
                <a:solidFill>
                  <a:srgbClr val="000080"/>
                </a:solidFill>
              </a:rPr>
              <a:t>)</a:t>
            </a:r>
            <a:r>
              <a:rPr lang="pt-BR" sz="800" dirty="0">
                <a:solidFill>
                  <a:srgbClr val="000000"/>
                </a:solidFill>
              </a:rPr>
              <a:t> </a:t>
            </a:r>
            <a:r>
              <a:rPr lang="pt-BR" sz="800" b="1" dirty="0">
                <a:solidFill>
                  <a:srgbClr val="000080"/>
                </a:solidFill>
              </a:rPr>
              <a:t>*</a:t>
            </a:r>
            <a:r>
              <a:rPr lang="pt-BR" sz="800" dirty="0">
                <a:solidFill>
                  <a:srgbClr val="000000"/>
                </a:solidFill>
              </a:rPr>
              <a:t> h</a:t>
            </a:r>
            <a:r>
              <a:rPr lang="pt-BR" sz="800" b="1" dirty="0">
                <a:solidFill>
                  <a:srgbClr val="000080"/>
                </a:solidFill>
              </a:rPr>
              <a:t>);</a:t>
            </a:r>
            <a:endParaRPr lang="pt-BR" sz="800" dirty="0">
              <a:solidFill>
                <a:srgbClr val="000000"/>
              </a:solidFill>
            </a:endParaRPr>
          </a:p>
          <a:p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	return_val </a:t>
            </a:r>
            <a:r>
              <a:rPr lang="es-ES" sz="800" b="1" dirty="0">
                <a:solidFill>
                  <a:srgbClr val="000080"/>
                </a:solidFill>
              </a:rPr>
              <a:t>+=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x</a:t>
            </a:r>
            <a:r>
              <a:rPr lang="es-ES" sz="800" b="1" dirty="0">
                <a:solidFill>
                  <a:srgbClr val="000080"/>
                </a:solidFill>
              </a:rPr>
              <a:t>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+</a:t>
            </a:r>
            <a:r>
              <a:rPr lang="es-ES" sz="800" dirty="0">
                <a:solidFill>
                  <a:srgbClr val="000000"/>
                </a:solidFill>
              </a:rPr>
              <a:t> f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y</a:t>
            </a:r>
            <a:r>
              <a:rPr lang="es-ES" sz="800" b="1" dirty="0">
                <a:solidFill>
                  <a:srgbClr val="000080"/>
                </a:solidFill>
              </a:rPr>
              <a:t>))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*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b="1" dirty="0">
                <a:solidFill>
                  <a:srgbClr val="000080"/>
                </a:solidFill>
              </a:rPr>
              <a:t>(</a:t>
            </a:r>
            <a:r>
              <a:rPr lang="es-ES" sz="800" dirty="0">
                <a:solidFill>
                  <a:srgbClr val="000000"/>
                </a:solidFill>
              </a:rPr>
              <a:t>h </a:t>
            </a:r>
            <a:r>
              <a:rPr lang="es-ES" sz="800" b="1" dirty="0">
                <a:solidFill>
                  <a:srgbClr val="000080"/>
                </a:solidFill>
              </a:rPr>
              <a:t>/</a:t>
            </a:r>
            <a:r>
              <a:rPr lang="es-ES" sz="800" dirty="0">
                <a:solidFill>
                  <a:srgbClr val="000000"/>
                </a:solidFill>
              </a:rPr>
              <a:t> </a:t>
            </a:r>
            <a:r>
              <a:rPr lang="es-ES" sz="800" dirty="0">
                <a:solidFill>
                  <a:srgbClr val="FF8000"/>
                </a:solidFill>
              </a:rPr>
              <a:t>2</a:t>
            </a:r>
            <a:r>
              <a:rPr lang="es-ES" sz="800" b="1" dirty="0">
                <a:solidFill>
                  <a:srgbClr val="000080"/>
                </a:solidFill>
              </a:rPr>
              <a:t>);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dirty="0">
                <a:solidFill>
                  <a:srgbClr val="000000"/>
                </a:solidFill>
              </a:rPr>
              <a:t>	</a:t>
            </a:r>
            <a:r>
              <a:rPr lang="es-ES" sz="800" b="1" dirty="0">
                <a:solidFill>
                  <a:srgbClr val="0000FF"/>
                </a:solidFill>
              </a:rPr>
              <a:t>return</a:t>
            </a:r>
            <a:r>
              <a:rPr lang="es-ES" sz="800" dirty="0">
                <a:solidFill>
                  <a:srgbClr val="000000"/>
                </a:solidFill>
              </a:rPr>
              <a:t> return_val</a:t>
            </a:r>
            <a:r>
              <a:rPr lang="es-ES" sz="800" b="1" dirty="0">
                <a:solidFill>
                  <a:srgbClr val="000080"/>
                </a:solidFill>
              </a:rPr>
              <a:t>;</a:t>
            </a:r>
            <a:endParaRPr lang="es-ES" sz="800" dirty="0">
              <a:solidFill>
                <a:srgbClr val="000000"/>
              </a:solidFill>
            </a:endParaRPr>
          </a:p>
          <a:p>
            <a:r>
              <a:rPr lang="es-ES" sz="800" b="1" dirty="0">
                <a:solidFill>
                  <a:srgbClr val="000080"/>
                </a:solidFill>
              </a:rPr>
              <a:t>}</a:t>
            </a:r>
            <a:endParaRPr lang="es-ES" sz="800" dirty="0">
              <a:solidFill>
                <a:srgbClr val="000000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9241B3D-2E71-4E3F-8D8F-85808E4BFC67}"/>
              </a:ext>
            </a:extLst>
          </p:cNvPr>
          <p:cNvCxnSpPr/>
          <p:nvPr/>
        </p:nvCxnSpPr>
        <p:spPr>
          <a:xfrm>
            <a:off x="5648325" y="366758"/>
            <a:ext cx="0" cy="6062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5328313-555B-4DEC-AB77-BFBD0CF5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573" y="6184075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7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0">
            <a:extLst>
              <a:ext uri="{FF2B5EF4-FFF2-40B4-BE49-F238E27FC236}">
                <a16:creationId xmlns:a16="http://schemas.microsoft.com/office/drawing/2014/main" id="{23ECC733-A533-4D91-BD25-3B6E06B7A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23">
            <a:extLst>
              <a:ext uri="{FF2B5EF4-FFF2-40B4-BE49-F238E27FC236}">
                <a16:creationId xmlns:a16="http://schemas.microsoft.com/office/drawing/2014/main" id="{36401F08-8B30-49FC-A47E-7119FCAAB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115" y="2410922"/>
            <a:ext cx="3404372" cy="363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600" dirty="0"/>
              <a:t>Cambiamos la parte 1 para medirlo con MPI_Reduce.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/>
              <a:t>Mediremos los tiempos tanto con Send y Receive como con Reduce.</a:t>
            </a: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3F6460BF-80B6-42E6-A4B2-8F9671BAA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8945" y="958640"/>
            <a:ext cx="6269591" cy="4945244"/>
          </a:xfrm>
          <a:prstGeom prst="roundRect">
            <a:avLst>
              <a:gd name="adj" fmla="val 3513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43D4F8-BCFE-4970-ADE3-C62DEE788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9" r="-16" b="5427"/>
          <a:stretch/>
        </p:blipFill>
        <p:spPr>
          <a:xfrm>
            <a:off x="5603706" y="1518492"/>
            <a:ext cx="5638853" cy="381027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3CAFC898-583B-4752-8151-BE2E78A290B0}"/>
              </a:ext>
            </a:extLst>
          </p:cNvPr>
          <p:cNvSpPr txBox="1"/>
          <p:nvPr/>
        </p:nvSpPr>
        <p:spPr>
          <a:xfrm>
            <a:off x="-1" y="0"/>
            <a:ext cx="4637005" cy="1596044"/>
          </a:xfrm>
          <a:prstGeom prst="rect">
            <a:avLst/>
          </a:prstGeom>
          <a:gradFill flip="none" rotWithShape="1">
            <a:gsLst>
              <a:gs pos="0">
                <a:srgbClr val="8C6DB4">
                  <a:shade val="30000"/>
                  <a:satMod val="115000"/>
                </a:srgbClr>
              </a:gs>
              <a:gs pos="50000">
                <a:srgbClr val="8C6DB4">
                  <a:shade val="67500"/>
                  <a:satMod val="115000"/>
                </a:srgbClr>
              </a:gs>
              <a:gs pos="100000">
                <a:srgbClr val="8C6DB4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62" y="-168632"/>
            <a:ext cx="3413084" cy="1559412"/>
          </a:xfrm>
        </p:spPr>
        <p:txBody>
          <a:bodyPr>
            <a:normAutofit/>
          </a:bodyPr>
          <a:lstStyle/>
          <a:p>
            <a:r>
              <a:rPr lang="es-ES" sz="3200" dirty="0"/>
              <a:t>Parte 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EC07B2C-4011-4695-BF56-DEDE1549ED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73"/>
          <a:stretch/>
        </p:blipFill>
        <p:spPr>
          <a:xfrm>
            <a:off x="5603706" y="2964472"/>
            <a:ext cx="5810693" cy="9335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FA32ED-6B07-404B-9EA1-528D4B44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4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 2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90" y="2189037"/>
            <a:ext cx="10554574" cy="5375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Procedemos a cronometrar el tiempo de ejecución de la parte 1: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50FCAD6E-1193-4D1A-9511-D1399F29C7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3941514"/>
              </p:ext>
            </p:extLst>
          </p:nvPr>
        </p:nvGraphicFramePr>
        <p:xfrm>
          <a:off x="835305" y="30721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ubtítulo 2">
            <a:extLst>
              <a:ext uri="{FF2B5EF4-FFF2-40B4-BE49-F238E27FC236}">
                <a16:creationId xmlns:a16="http://schemas.microsoft.com/office/drawing/2014/main" id="{609549B3-F5AD-4888-987A-62AB15B6D48B}"/>
              </a:ext>
            </a:extLst>
          </p:cNvPr>
          <p:cNvSpPr txBox="1">
            <a:spLocks/>
          </p:cNvSpPr>
          <p:nvPr/>
        </p:nvSpPr>
        <p:spPr>
          <a:xfrm>
            <a:off x="1067690" y="5870006"/>
            <a:ext cx="4107230" cy="74305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/>
              <a:t>Reduce</a:t>
            </a:r>
          </a:p>
          <a:p>
            <a:pPr marL="0" indent="0" algn="ctr">
              <a:buNone/>
            </a:pPr>
            <a:r>
              <a:rPr lang="es-ES" sz="1600" u="sng" dirty="0"/>
              <a:t>Belén Domínguez Domínguez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A452BD-E27A-4BD2-ACFC-407EAD9B02B8}"/>
              </a:ext>
            </a:extLst>
          </p:cNvPr>
          <p:cNvSpPr/>
          <p:nvPr/>
        </p:nvSpPr>
        <p:spPr>
          <a:xfrm>
            <a:off x="7682406" y="5913444"/>
            <a:ext cx="2820003" cy="661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/>
              <a:t>Send Receive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José Manuel Pérez Álvarez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73CE441E-7BC5-4BFA-9820-ABD3409F2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8254237"/>
              </p:ext>
            </p:extLst>
          </p:nvPr>
        </p:nvGraphicFramePr>
        <p:xfrm>
          <a:off x="6784697" y="2957804"/>
          <a:ext cx="43891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87901F8-A608-4F17-8C8F-4DCF9EE6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2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 2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90" y="2189037"/>
            <a:ext cx="10554574" cy="5375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Aceleración desde 2 hasta 12 procesos :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50FCAD6E-1193-4D1A-9511-D1399F29C7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784252"/>
              </p:ext>
            </p:extLst>
          </p:nvPr>
        </p:nvGraphicFramePr>
        <p:xfrm>
          <a:off x="737392" y="302781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Subtítulo 2">
            <a:extLst>
              <a:ext uri="{FF2B5EF4-FFF2-40B4-BE49-F238E27FC236}">
                <a16:creationId xmlns:a16="http://schemas.microsoft.com/office/drawing/2014/main" id="{1F422D17-11F0-40F4-8B6E-B26E4C148B36}"/>
              </a:ext>
            </a:extLst>
          </p:cNvPr>
          <p:cNvSpPr txBox="1">
            <a:spLocks/>
          </p:cNvSpPr>
          <p:nvPr/>
        </p:nvSpPr>
        <p:spPr>
          <a:xfrm>
            <a:off x="439961" y="5870006"/>
            <a:ext cx="4869432" cy="74305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/>
              <a:t>Reduce</a:t>
            </a:r>
          </a:p>
          <a:p>
            <a:pPr marL="0" indent="0" algn="ctr">
              <a:buNone/>
            </a:pPr>
            <a:r>
              <a:rPr lang="es-ES" sz="1600" u="sng" dirty="0"/>
              <a:t>Belén Domínguez Domínguez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2B7C085-8117-4042-8EAA-3B2246BA833C}"/>
              </a:ext>
            </a:extLst>
          </p:cNvPr>
          <p:cNvSpPr/>
          <p:nvPr/>
        </p:nvSpPr>
        <p:spPr>
          <a:xfrm>
            <a:off x="7682406" y="5913444"/>
            <a:ext cx="2820003" cy="661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/>
              <a:t>Send Receive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José Manuel Pérez Álvarez</a:t>
            </a: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A2A13C76-F543-4DD9-9448-3661F17B66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0126829"/>
              </p:ext>
            </p:extLst>
          </p:nvPr>
        </p:nvGraphicFramePr>
        <p:xfrm>
          <a:off x="6882609" y="2970666"/>
          <a:ext cx="44196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DE46A73-6776-4ED6-9566-2F5EDA1B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0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90" y="2189037"/>
            <a:ext cx="10554574" cy="5375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Procedemos a cronometrar el tiempo de ejecución de la parte 1: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B54C1521-3E3F-423B-868F-87AB0F391E77}"/>
              </a:ext>
            </a:extLst>
          </p:cNvPr>
          <p:cNvGraphicFramePr>
            <a:graphicFrameLocks/>
          </p:cNvGraphicFramePr>
          <p:nvPr/>
        </p:nvGraphicFramePr>
        <p:xfrm>
          <a:off x="477890" y="318640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ubtítulo 2">
            <a:extLst>
              <a:ext uri="{FF2B5EF4-FFF2-40B4-BE49-F238E27FC236}">
                <a16:creationId xmlns:a16="http://schemas.microsoft.com/office/drawing/2014/main" id="{1D5345A4-9D0A-4DE9-B6A7-200B2C1EAEE3}"/>
              </a:ext>
            </a:extLst>
          </p:cNvPr>
          <p:cNvSpPr txBox="1">
            <a:spLocks/>
          </p:cNvSpPr>
          <p:nvPr/>
        </p:nvSpPr>
        <p:spPr>
          <a:xfrm>
            <a:off x="402364" y="5872454"/>
            <a:ext cx="4869432" cy="74305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/>
              <a:t>Reduce</a:t>
            </a:r>
          </a:p>
          <a:p>
            <a:pPr marL="0" indent="0" algn="ctr">
              <a:buNone/>
            </a:pPr>
            <a:r>
              <a:rPr lang="es-ES" sz="1600" u="sng" dirty="0"/>
              <a:t>Belén Domínguez Domínguez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D9ABE91-E29A-4EC8-AA89-398144EEBEC2}"/>
              </a:ext>
            </a:extLst>
          </p:cNvPr>
          <p:cNvSpPr/>
          <p:nvPr/>
        </p:nvSpPr>
        <p:spPr>
          <a:xfrm>
            <a:off x="7682406" y="5913444"/>
            <a:ext cx="2820003" cy="661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/>
              <a:t>Send Receive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José Manuel Pérez Álvarez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E5A06DFA-D356-463B-B575-885A37994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327077"/>
              </p:ext>
            </p:extLst>
          </p:nvPr>
        </p:nvGraphicFramePr>
        <p:xfrm>
          <a:off x="558296" y="3014954"/>
          <a:ext cx="4557568" cy="278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DDB8AA0-C306-467E-9B84-33637B86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73CE441E-7BC5-4BFA-9820-ABD3409F28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107999"/>
              </p:ext>
            </p:extLst>
          </p:nvPr>
        </p:nvGraphicFramePr>
        <p:xfrm>
          <a:off x="6820288" y="2965167"/>
          <a:ext cx="438912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92603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Parte 3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90" y="2189037"/>
            <a:ext cx="10554574" cy="5375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Aceleración desde 2 hasta 12 procesos :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55B54B-F140-490F-84BC-C32E0BB58553}"/>
              </a:ext>
            </a:extLst>
          </p:cNvPr>
          <p:cNvSpPr/>
          <p:nvPr/>
        </p:nvSpPr>
        <p:spPr>
          <a:xfrm>
            <a:off x="7682406" y="5913444"/>
            <a:ext cx="2820003" cy="661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/>
              <a:t>Send Receive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José Manuel Pérez Álvarez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07CF77A9-B9D1-41DB-9A50-4AB31068F2DD}"/>
              </a:ext>
            </a:extLst>
          </p:cNvPr>
          <p:cNvSpPr txBox="1">
            <a:spLocks/>
          </p:cNvSpPr>
          <p:nvPr/>
        </p:nvSpPr>
        <p:spPr>
          <a:xfrm>
            <a:off x="402364" y="5872454"/>
            <a:ext cx="4869432" cy="74305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/>
              <a:t>Reduce</a:t>
            </a:r>
          </a:p>
          <a:p>
            <a:pPr marL="0" indent="0" algn="ctr">
              <a:buNone/>
            </a:pPr>
            <a:r>
              <a:rPr lang="es-ES" sz="1600" u="sng" dirty="0"/>
              <a:t>Belén Domínguez Domínguez</a:t>
            </a:r>
          </a:p>
        </p:txBody>
      </p:sp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E3E427E8-00F0-47E9-B0DD-B751F39E91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8851577"/>
              </p:ext>
            </p:extLst>
          </p:nvPr>
        </p:nvGraphicFramePr>
        <p:xfrm>
          <a:off x="559739" y="3006168"/>
          <a:ext cx="4554682" cy="2786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A32515B-2FCB-4EBB-8A7A-C27EA505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2A13C76-F543-4DD9-9448-3661F17B66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5875609"/>
              </p:ext>
            </p:extLst>
          </p:nvPr>
        </p:nvGraphicFramePr>
        <p:xfrm>
          <a:off x="6882607" y="2935163"/>
          <a:ext cx="44196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9816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950E4-7542-44A7-8568-A5B20E0D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D87053-1C2F-4AF6-811A-E5084781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890" y="2189037"/>
            <a:ext cx="10554574" cy="537538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Comparar parte 2 y 3: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55B54B-F140-490F-84BC-C32E0BB58553}"/>
              </a:ext>
            </a:extLst>
          </p:cNvPr>
          <p:cNvSpPr/>
          <p:nvPr/>
        </p:nvSpPr>
        <p:spPr>
          <a:xfrm>
            <a:off x="7682406" y="5913444"/>
            <a:ext cx="2820003" cy="6610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/>
              <a:t>Send Receive</a:t>
            </a:r>
          </a:p>
          <a:p>
            <a:pPr>
              <a:lnSpc>
                <a:spcPct val="150000"/>
              </a:lnSpc>
            </a:pPr>
            <a:r>
              <a:rPr lang="es-ES" sz="1600" u="sng" dirty="0"/>
              <a:t>José Manuel Pérez Álvarez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07CF77A9-B9D1-41DB-9A50-4AB31068F2DD}"/>
              </a:ext>
            </a:extLst>
          </p:cNvPr>
          <p:cNvSpPr txBox="1">
            <a:spLocks/>
          </p:cNvSpPr>
          <p:nvPr/>
        </p:nvSpPr>
        <p:spPr>
          <a:xfrm>
            <a:off x="402364" y="5872454"/>
            <a:ext cx="4869432" cy="743058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sz="1600" dirty="0"/>
              <a:t>Reduce</a:t>
            </a:r>
          </a:p>
          <a:p>
            <a:pPr marL="0" indent="0" algn="ctr">
              <a:buNone/>
            </a:pPr>
            <a:r>
              <a:rPr lang="es-ES" sz="1600" u="sng" dirty="0"/>
              <a:t>Belén Domínguez Domínguez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75E8D3D4-85E1-44E7-A1AC-0EF8CBBD1F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7583975"/>
              </p:ext>
            </p:extLst>
          </p:nvPr>
        </p:nvGraphicFramePr>
        <p:xfrm>
          <a:off x="551080" y="29484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4CCBEB8-8CA1-4AEE-B386-76B34ACA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DB127E7A-B844-4724-A40C-94F958C434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7421923"/>
              </p:ext>
            </p:extLst>
          </p:nvPr>
        </p:nvGraphicFramePr>
        <p:xfrm>
          <a:off x="6718864" y="29484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2923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6014F7E7081743A910A7A114767D18" ma:contentTypeVersion="0" ma:contentTypeDescription="Crear nuevo documento." ma:contentTypeScope="" ma:versionID="580765c342f5c9f1c338326910f7da5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2e4b51cb7c34243b83755aca851569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D5DD77-0DD9-4C1F-8080-EEFC781068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9EDF27-BB0E-4C8E-AAD4-EEACF05E4F8B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CEFF090-5620-4CDD-A4A0-710B2F196A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728</Words>
  <Application>Microsoft Office PowerPoint</Application>
  <PresentationFormat>Panorámica</PresentationFormat>
  <Paragraphs>231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2</vt:lpstr>
      <vt:lpstr>Citable</vt:lpstr>
      <vt:lpstr>MPI</vt:lpstr>
      <vt:lpstr>Introducción</vt:lpstr>
      <vt:lpstr>Parte 1</vt:lpstr>
      <vt:lpstr>Parte 1</vt:lpstr>
      <vt:lpstr>Presentación de PowerPoint</vt:lpstr>
      <vt:lpstr>Parte 1</vt:lpstr>
      <vt:lpstr>Presentación de PowerPoint</vt:lpstr>
      <vt:lpstr>Parte 2</vt:lpstr>
      <vt:lpstr>Parte 2</vt:lpstr>
      <vt:lpstr>Parte 2</vt:lpstr>
      <vt:lpstr>Parte 3</vt:lpstr>
      <vt:lpstr>Parte 3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MPI</dc:title>
  <dc:creator>Belen Dominguez</dc:creator>
  <cp:lastModifiedBy>Belen Dominguez</cp:lastModifiedBy>
  <cp:revision>8</cp:revision>
  <dcterms:created xsi:type="dcterms:W3CDTF">2020-05-20T12:22:33Z</dcterms:created>
  <dcterms:modified xsi:type="dcterms:W3CDTF">2020-05-20T12:58:03Z</dcterms:modified>
</cp:coreProperties>
</file>